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A552"/>
    <a:srgbClr val="92288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7" y="2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52D602-680F-436C-B70C-753661FC5E2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C"/>
          </a:p>
        </p:txBody>
      </p:sp>
      <p:sp>
        <p:nvSpPr>
          <p:cNvPr id="3" name="Sous-titre 2">
            <a:extLst>
              <a:ext uri="{FF2B5EF4-FFF2-40B4-BE49-F238E27FC236}">
                <a16:creationId xmlns:a16="http://schemas.microsoft.com/office/drawing/2014/main" id="{7BD6FE1A-F1FA-4470-AD79-C03B5395B2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C"/>
          </a:p>
        </p:txBody>
      </p:sp>
      <p:sp>
        <p:nvSpPr>
          <p:cNvPr id="4" name="Espace réservé de la date 3">
            <a:extLst>
              <a:ext uri="{FF2B5EF4-FFF2-40B4-BE49-F238E27FC236}">
                <a16:creationId xmlns:a16="http://schemas.microsoft.com/office/drawing/2014/main" id="{4F7B83C1-88D1-4229-8AA6-53FF2E1A3AD8}"/>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CF089198-DF98-4413-B3BC-E7298002FE98}"/>
              </a:ext>
            </a:extLst>
          </p:cNvPr>
          <p:cNvSpPr>
            <a:spLocks noGrp="1"/>
          </p:cNvSpPr>
          <p:nvPr>
            <p:ph type="ftr" sz="quarter" idx="11"/>
          </p:nvPr>
        </p:nvSpPr>
        <p:spPr/>
        <p:txBody>
          <a:bodyPr/>
          <a:lstStyle/>
          <a:p>
            <a:endParaRPr lang="fr-MC"/>
          </a:p>
        </p:txBody>
      </p:sp>
      <p:sp>
        <p:nvSpPr>
          <p:cNvPr id="6" name="Espace réservé du numéro de diapositive 5">
            <a:extLst>
              <a:ext uri="{FF2B5EF4-FFF2-40B4-BE49-F238E27FC236}">
                <a16:creationId xmlns:a16="http://schemas.microsoft.com/office/drawing/2014/main" id="{4A9AEFE5-99FB-48B3-915E-C8ACD06EA105}"/>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4269093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D7BD28-1DFA-4E2A-A14A-FC62446E3B77}"/>
              </a:ext>
            </a:extLst>
          </p:cNvPr>
          <p:cNvSpPr>
            <a:spLocks noGrp="1"/>
          </p:cNvSpPr>
          <p:nvPr>
            <p:ph type="title"/>
          </p:nvPr>
        </p:nvSpPr>
        <p:spPr/>
        <p:txBody>
          <a:bodyPr/>
          <a:lstStyle/>
          <a:p>
            <a:r>
              <a:rPr lang="fr-FR"/>
              <a:t>Modifiez le style du titre</a:t>
            </a:r>
            <a:endParaRPr lang="fr-MC"/>
          </a:p>
        </p:txBody>
      </p:sp>
      <p:sp>
        <p:nvSpPr>
          <p:cNvPr id="3" name="Espace réservé du contenu 2">
            <a:extLst>
              <a:ext uri="{FF2B5EF4-FFF2-40B4-BE49-F238E27FC236}">
                <a16:creationId xmlns:a16="http://schemas.microsoft.com/office/drawing/2014/main" id="{324159EF-C6BF-45F1-AF43-02CE5042E58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e la date 3">
            <a:extLst>
              <a:ext uri="{FF2B5EF4-FFF2-40B4-BE49-F238E27FC236}">
                <a16:creationId xmlns:a16="http://schemas.microsoft.com/office/drawing/2014/main" id="{893808A3-7E15-4EAB-996A-590435C1AF24}"/>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7C6B4E86-8D0A-4023-8DEC-D352BF18659A}"/>
              </a:ext>
            </a:extLst>
          </p:cNvPr>
          <p:cNvSpPr>
            <a:spLocks noGrp="1"/>
          </p:cNvSpPr>
          <p:nvPr>
            <p:ph type="ftr" sz="quarter" idx="11"/>
          </p:nvPr>
        </p:nvSpPr>
        <p:spPr/>
        <p:txBody>
          <a:bodyPr/>
          <a:lstStyle/>
          <a:p>
            <a:endParaRPr lang="fr-MC"/>
          </a:p>
        </p:txBody>
      </p:sp>
      <p:sp>
        <p:nvSpPr>
          <p:cNvPr id="6" name="Espace réservé du numéro de diapositive 5">
            <a:extLst>
              <a:ext uri="{FF2B5EF4-FFF2-40B4-BE49-F238E27FC236}">
                <a16:creationId xmlns:a16="http://schemas.microsoft.com/office/drawing/2014/main" id="{846B4FA5-D157-4E47-A512-62BE7D02A1BE}"/>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1213535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F4BA91-4BA6-4488-A586-93DFF25586D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C"/>
          </a:p>
        </p:txBody>
      </p:sp>
      <p:sp>
        <p:nvSpPr>
          <p:cNvPr id="3" name="Espace réservé du texte 2">
            <a:extLst>
              <a:ext uri="{FF2B5EF4-FFF2-40B4-BE49-F238E27FC236}">
                <a16:creationId xmlns:a16="http://schemas.microsoft.com/office/drawing/2014/main" id="{05BE2039-1205-42C4-B101-1E66687078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1EFA696-65D0-4DB2-8EAF-1A892DA3402E}"/>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BBE5CABA-1FE2-436B-94A4-895BDA1FFD87}"/>
              </a:ext>
            </a:extLst>
          </p:cNvPr>
          <p:cNvSpPr>
            <a:spLocks noGrp="1"/>
          </p:cNvSpPr>
          <p:nvPr>
            <p:ph type="ftr" sz="quarter" idx="11"/>
          </p:nvPr>
        </p:nvSpPr>
        <p:spPr/>
        <p:txBody>
          <a:bodyPr/>
          <a:lstStyle/>
          <a:p>
            <a:endParaRPr lang="fr-MC"/>
          </a:p>
        </p:txBody>
      </p:sp>
      <p:sp>
        <p:nvSpPr>
          <p:cNvPr id="6" name="Espace réservé du numéro de diapositive 5">
            <a:extLst>
              <a:ext uri="{FF2B5EF4-FFF2-40B4-BE49-F238E27FC236}">
                <a16:creationId xmlns:a16="http://schemas.microsoft.com/office/drawing/2014/main" id="{CA605CDE-6FCD-49FD-A556-722F453B864B}"/>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251510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FE220C-E530-43E1-AA6F-E377B41DE667}"/>
              </a:ext>
            </a:extLst>
          </p:cNvPr>
          <p:cNvSpPr>
            <a:spLocks noGrp="1"/>
          </p:cNvSpPr>
          <p:nvPr>
            <p:ph type="title"/>
          </p:nvPr>
        </p:nvSpPr>
        <p:spPr/>
        <p:txBody>
          <a:bodyPr/>
          <a:lstStyle/>
          <a:p>
            <a:r>
              <a:rPr lang="fr-FR"/>
              <a:t>Modifiez le style du titre</a:t>
            </a:r>
            <a:endParaRPr lang="fr-MC"/>
          </a:p>
        </p:txBody>
      </p:sp>
      <p:sp>
        <p:nvSpPr>
          <p:cNvPr id="3" name="Espace réservé du contenu 2">
            <a:extLst>
              <a:ext uri="{FF2B5EF4-FFF2-40B4-BE49-F238E27FC236}">
                <a16:creationId xmlns:a16="http://schemas.microsoft.com/office/drawing/2014/main" id="{26D8CDE0-3B77-417B-A5B1-26A409E7DC4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u contenu 3">
            <a:extLst>
              <a:ext uri="{FF2B5EF4-FFF2-40B4-BE49-F238E27FC236}">
                <a16:creationId xmlns:a16="http://schemas.microsoft.com/office/drawing/2014/main" id="{3DE4B170-DE70-4808-B314-96F3712127A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5" name="Espace réservé de la date 4">
            <a:extLst>
              <a:ext uri="{FF2B5EF4-FFF2-40B4-BE49-F238E27FC236}">
                <a16:creationId xmlns:a16="http://schemas.microsoft.com/office/drawing/2014/main" id="{6A65BCA9-6929-4AC0-96F9-84D48EAA0257}"/>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6" name="Espace réservé du pied de page 5">
            <a:extLst>
              <a:ext uri="{FF2B5EF4-FFF2-40B4-BE49-F238E27FC236}">
                <a16:creationId xmlns:a16="http://schemas.microsoft.com/office/drawing/2014/main" id="{BF846A10-162E-44AF-810F-E6EA0AD0C87D}"/>
              </a:ext>
            </a:extLst>
          </p:cNvPr>
          <p:cNvSpPr>
            <a:spLocks noGrp="1"/>
          </p:cNvSpPr>
          <p:nvPr>
            <p:ph type="ftr" sz="quarter" idx="11"/>
          </p:nvPr>
        </p:nvSpPr>
        <p:spPr/>
        <p:txBody>
          <a:bodyPr/>
          <a:lstStyle/>
          <a:p>
            <a:endParaRPr lang="fr-MC"/>
          </a:p>
        </p:txBody>
      </p:sp>
      <p:sp>
        <p:nvSpPr>
          <p:cNvPr id="7" name="Espace réservé du numéro de diapositive 6">
            <a:extLst>
              <a:ext uri="{FF2B5EF4-FFF2-40B4-BE49-F238E27FC236}">
                <a16:creationId xmlns:a16="http://schemas.microsoft.com/office/drawing/2014/main" id="{0F6F9817-AD88-450D-A5A9-44ECCCF27D75}"/>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3581648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CC713A-83CA-4B03-849A-557F27655A7D}"/>
              </a:ext>
            </a:extLst>
          </p:cNvPr>
          <p:cNvSpPr>
            <a:spLocks noGrp="1"/>
          </p:cNvSpPr>
          <p:nvPr>
            <p:ph type="title"/>
          </p:nvPr>
        </p:nvSpPr>
        <p:spPr>
          <a:xfrm>
            <a:off x="839788" y="365125"/>
            <a:ext cx="10515600" cy="1325563"/>
          </a:xfrm>
        </p:spPr>
        <p:txBody>
          <a:bodyPr/>
          <a:lstStyle/>
          <a:p>
            <a:r>
              <a:rPr lang="fr-FR"/>
              <a:t>Modifiez le style du titre</a:t>
            </a:r>
            <a:endParaRPr lang="fr-MC"/>
          </a:p>
        </p:txBody>
      </p:sp>
      <p:sp>
        <p:nvSpPr>
          <p:cNvPr id="3" name="Espace réservé du texte 2">
            <a:extLst>
              <a:ext uri="{FF2B5EF4-FFF2-40B4-BE49-F238E27FC236}">
                <a16:creationId xmlns:a16="http://schemas.microsoft.com/office/drawing/2014/main" id="{A71F8CA0-39D4-4929-AC65-8D207FC7BC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7A541B6-D512-4AFB-9E08-4CA65E06A68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5" name="Espace réservé du texte 4">
            <a:extLst>
              <a:ext uri="{FF2B5EF4-FFF2-40B4-BE49-F238E27FC236}">
                <a16:creationId xmlns:a16="http://schemas.microsoft.com/office/drawing/2014/main" id="{CD37440D-CAA2-4EFA-9C91-14B73E1220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9FC987C-4FB9-4829-B43B-847EBF99DBC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7" name="Espace réservé de la date 6">
            <a:extLst>
              <a:ext uri="{FF2B5EF4-FFF2-40B4-BE49-F238E27FC236}">
                <a16:creationId xmlns:a16="http://schemas.microsoft.com/office/drawing/2014/main" id="{3156B42C-4037-4F58-9A83-C8E7CDE98177}"/>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8" name="Espace réservé du pied de page 7">
            <a:extLst>
              <a:ext uri="{FF2B5EF4-FFF2-40B4-BE49-F238E27FC236}">
                <a16:creationId xmlns:a16="http://schemas.microsoft.com/office/drawing/2014/main" id="{49D74831-FD47-482D-9525-BC72B964E348}"/>
              </a:ext>
            </a:extLst>
          </p:cNvPr>
          <p:cNvSpPr>
            <a:spLocks noGrp="1"/>
          </p:cNvSpPr>
          <p:nvPr>
            <p:ph type="ftr" sz="quarter" idx="11"/>
          </p:nvPr>
        </p:nvSpPr>
        <p:spPr/>
        <p:txBody>
          <a:bodyPr/>
          <a:lstStyle/>
          <a:p>
            <a:endParaRPr lang="fr-MC"/>
          </a:p>
        </p:txBody>
      </p:sp>
      <p:sp>
        <p:nvSpPr>
          <p:cNvPr id="9" name="Espace réservé du numéro de diapositive 8">
            <a:extLst>
              <a:ext uri="{FF2B5EF4-FFF2-40B4-BE49-F238E27FC236}">
                <a16:creationId xmlns:a16="http://schemas.microsoft.com/office/drawing/2014/main" id="{52A4B7F9-E5C0-410B-965B-FAFB8B507610}"/>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3489816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51CCC0-9A78-446A-AE1C-8E5084FDEE04}"/>
              </a:ext>
            </a:extLst>
          </p:cNvPr>
          <p:cNvSpPr>
            <a:spLocks noGrp="1"/>
          </p:cNvSpPr>
          <p:nvPr>
            <p:ph type="title"/>
          </p:nvPr>
        </p:nvSpPr>
        <p:spPr/>
        <p:txBody>
          <a:bodyPr/>
          <a:lstStyle/>
          <a:p>
            <a:r>
              <a:rPr lang="fr-FR"/>
              <a:t>Modifiez le style du titre</a:t>
            </a:r>
            <a:endParaRPr lang="fr-MC"/>
          </a:p>
        </p:txBody>
      </p:sp>
      <p:sp>
        <p:nvSpPr>
          <p:cNvPr id="3" name="Espace réservé de la date 2">
            <a:extLst>
              <a:ext uri="{FF2B5EF4-FFF2-40B4-BE49-F238E27FC236}">
                <a16:creationId xmlns:a16="http://schemas.microsoft.com/office/drawing/2014/main" id="{35F09AA9-1204-4BD7-A3D5-D73FC3B1D1F9}"/>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4" name="Espace réservé du pied de page 3">
            <a:extLst>
              <a:ext uri="{FF2B5EF4-FFF2-40B4-BE49-F238E27FC236}">
                <a16:creationId xmlns:a16="http://schemas.microsoft.com/office/drawing/2014/main" id="{9F25A42E-2AEA-4884-BBC2-C72676DE7A71}"/>
              </a:ext>
            </a:extLst>
          </p:cNvPr>
          <p:cNvSpPr>
            <a:spLocks noGrp="1"/>
          </p:cNvSpPr>
          <p:nvPr>
            <p:ph type="ftr" sz="quarter" idx="11"/>
          </p:nvPr>
        </p:nvSpPr>
        <p:spPr/>
        <p:txBody>
          <a:bodyPr/>
          <a:lstStyle/>
          <a:p>
            <a:endParaRPr lang="fr-MC"/>
          </a:p>
        </p:txBody>
      </p:sp>
      <p:sp>
        <p:nvSpPr>
          <p:cNvPr id="5" name="Espace réservé du numéro de diapositive 4">
            <a:extLst>
              <a:ext uri="{FF2B5EF4-FFF2-40B4-BE49-F238E27FC236}">
                <a16:creationId xmlns:a16="http://schemas.microsoft.com/office/drawing/2014/main" id="{52DCDFB4-EA17-4A74-9641-9A0F7147B1B0}"/>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2664639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290596E-BB9A-44F2-9F97-5F43FEFC9728}"/>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3" name="Espace réservé du pied de page 2">
            <a:extLst>
              <a:ext uri="{FF2B5EF4-FFF2-40B4-BE49-F238E27FC236}">
                <a16:creationId xmlns:a16="http://schemas.microsoft.com/office/drawing/2014/main" id="{FE1CA0EB-2913-4072-8504-760E41909DE5}"/>
              </a:ext>
            </a:extLst>
          </p:cNvPr>
          <p:cNvSpPr>
            <a:spLocks noGrp="1"/>
          </p:cNvSpPr>
          <p:nvPr>
            <p:ph type="ftr" sz="quarter" idx="11"/>
          </p:nvPr>
        </p:nvSpPr>
        <p:spPr/>
        <p:txBody>
          <a:bodyPr/>
          <a:lstStyle/>
          <a:p>
            <a:endParaRPr lang="fr-MC"/>
          </a:p>
        </p:txBody>
      </p:sp>
      <p:sp>
        <p:nvSpPr>
          <p:cNvPr id="4" name="Espace réservé du numéro de diapositive 3">
            <a:extLst>
              <a:ext uri="{FF2B5EF4-FFF2-40B4-BE49-F238E27FC236}">
                <a16:creationId xmlns:a16="http://schemas.microsoft.com/office/drawing/2014/main" id="{798E438A-ED3B-414B-9297-1CFB695A8940}"/>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4092223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665EEF-3AB2-4AB2-A72C-4FD8A03D0AD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C"/>
          </a:p>
        </p:txBody>
      </p:sp>
      <p:sp>
        <p:nvSpPr>
          <p:cNvPr id="3" name="Espace réservé du contenu 2">
            <a:extLst>
              <a:ext uri="{FF2B5EF4-FFF2-40B4-BE49-F238E27FC236}">
                <a16:creationId xmlns:a16="http://schemas.microsoft.com/office/drawing/2014/main" id="{32FFE7BE-B720-416A-9082-E254652B51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u texte 3">
            <a:extLst>
              <a:ext uri="{FF2B5EF4-FFF2-40B4-BE49-F238E27FC236}">
                <a16:creationId xmlns:a16="http://schemas.microsoft.com/office/drawing/2014/main" id="{35B6404F-5EAE-4A3F-AB96-9E8DBFCFA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91B3290-9C77-48FE-B4A9-256DF484EDC5}"/>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6" name="Espace réservé du pied de page 5">
            <a:extLst>
              <a:ext uri="{FF2B5EF4-FFF2-40B4-BE49-F238E27FC236}">
                <a16:creationId xmlns:a16="http://schemas.microsoft.com/office/drawing/2014/main" id="{AACC68CD-61FA-4496-B799-0FBE52AE9B19}"/>
              </a:ext>
            </a:extLst>
          </p:cNvPr>
          <p:cNvSpPr>
            <a:spLocks noGrp="1"/>
          </p:cNvSpPr>
          <p:nvPr>
            <p:ph type="ftr" sz="quarter" idx="11"/>
          </p:nvPr>
        </p:nvSpPr>
        <p:spPr/>
        <p:txBody>
          <a:bodyPr/>
          <a:lstStyle/>
          <a:p>
            <a:endParaRPr lang="fr-MC"/>
          </a:p>
        </p:txBody>
      </p:sp>
      <p:sp>
        <p:nvSpPr>
          <p:cNvPr id="7" name="Espace réservé du numéro de diapositive 6">
            <a:extLst>
              <a:ext uri="{FF2B5EF4-FFF2-40B4-BE49-F238E27FC236}">
                <a16:creationId xmlns:a16="http://schemas.microsoft.com/office/drawing/2014/main" id="{5270B111-33FD-411C-9D92-825F4A394841}"/>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3660979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87F407-2325-4712-A443-D858DE532D6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C"/>
          </a:p>
        </p:txBody>
      </p:sp>
      <p:sp>
        <p:nvSpPr>
          <p:cNvPr id="3" name="Espace réservé pour une image  2">
            <a:extLst>
              <a:ext uri="{FF2B5EF4-FFF2-40B4-BE49-F238E27FC236}">
                <a16:creationId xmlns:a16="http://schemas.microsoft.com/office/drawing/2014/main" id="{2179008A-E14D-420C-B287-03E51B5E94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C"/>
          </a:p>
        </p:txBody>
      </p:sp>
      <p:sp>
        <p:nvSpPr>
          <p:cNvPr id="4" name="Espace réservé du texte 3">
            <a:extLst>
              <a:ext uri="{FF2B5EF4-FFF2-40B4-BE49-F238E27FC236}">
                <a16:creationId xmlns:a16="http://schemas.microsoft.com/office/drawing/2014/main" id="{544B95B1-13AC-42D2-9985-9F9D5E936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4EA870B-FE24-4827-B1BE-9B9009CCEBC1}"/>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6" name="Espace réservé du pied de page 5">
            <a:extLst>
              <a:ext uri="{FF2B5EF4-FFF2-40B4-BE49-F238E27FC236}">
                <a16:creationId xmlns:a16="http://schemas.microsoft.com/office/drawing/2014/main" id="{AE4C8BA5-19F3-412E-9535-38BB6BE350DD}"/>
              </a:ext>
            </a:extLst>
          </p:cNvPr>
          <p:cNvSpPr>
            <a:spLocks noGrp="1"/>
          </p:cNvSpPr>
          <p:nvPr>
            <p:ph type="ftr" sz="quarter" idx="11"/>
          </p:nvPr>
        </p:nvSpPr>
        <p:spPr/>
        <p:txBody>
          <a:bodyPr/>
          <a:lstStyle/>
          <a:p>
            <a:endParaRPr lang="fr-MC"/>
          </a:p>
        </p:txBody>
      </p:sp>
      <p:sp>
        <p:nvSpPr>
          <p:cNvPr id="7" name="Espace réservé du numéro de diapositive 6">
            <a:extLst>
              <a:ext uri="{FF2B5EF4-FFF2-40B4-BE49-F238E27FC236}">
                <a16:creationId xmlns:a16="http://schemas.microsoft.com/office/drawing/2014/main" id="{01897490-05FF-4AA2-94B3-A9CA4D242517}"/>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409125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7E977A-8768-4490-8CD3-47546DF60489}"/>
              </a:ext>
            </a:extLst>
          </p:cNvPr>
          <p:cNvSpPr>
            <a:spLocks noGrp="1"/>
          </p:cNvSpPr>
          <p:nvPr>
            <p:ph type="title"/>
          </p:nvPr>
        </p:nvSpPr>
        <p:spPr/>
        <p:txBody>
          <a:bodyPr/>
          <a:lstStyle/>
          <a:p>
            <a:r>
              <a:rPr lang="fr-FR"/>
              <a:t>Modifiez le style du titre</a:t>
            </a:r>
            <a:endParaRPr lang="fr-MC"/>
          </a:p>
        </p:txBody>
      </p:sp>
      <p:sp>
        <p:nvSpPr>
          <p:cNvPr id="3" name="Espace réservé du texte vertical 2">
            <a:extLst>
              <a:ext uri="{FF2B5EF4-FFF2-40B4-BE49-F238E27FC236}">
                <a16:creationId xmlns:a16="http://schemas.microsoft.com/office/drawing/2014/main" id="{2D65AB12-1075-4899-8594-A99B1AEC128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e la date 3">
            <a:extLst>
              <a:ext uri="{FF2B5EF4-FFF2-40B4-BE49-F238E27FC236}">
                <a16:creationId xmlns:a16="http://schemas.microsoft.com/office/drawing/2014/main" id="{C7A787D2-DB3A-41B3-9635-4F158D139AC5}"/>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4A7D1B43-3633-45CA-9255-2C665D6554BB}"/>
              </a:ext>
            </a:extLst>
          </p:cNvPr>
          <p:cNvSpPr>
            <a:spLocks noGrp="1"/>
          </p:cNvSpPr>
          <p:nvPr>
            <p:ph type="ftr" sz="quarter" idx="11"/>
          </p:nvPr>
        </p:nvSpPr>
        <p:spPr/>
        <p:txBody>
          <a:bodyPr/>
          <a:lstStyle/>
          <a:p>
            <a:endParaRPr lang="fr-MC"/>
          </a:p>
        </p:txBody>
      </p:sp>
      <p:sp>
        <p:nvSpPr>
          <p:cNvPr id="6" name="Espace réservé du numéro de diapositive 5">
            <a:extLst>
              <a:ext uri="{FF2B5EF4-FFF2-40B4-BE49-F238E27FC236}">
                <a16:creationId xmlns:a16="http://schemas.microsoft.com/office/drawing/2014/main" id="{8B270423-F44A-400A-8C27-02F60ED0C343}"/>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1213595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A0B600A-3848-41A3-B78B-A6FBC24DE2BC}"/>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MC"/>
          </a:p>
        </p:txBody>
      </p:sp>
      <p:sp>
        <p:nvSpPr>
          <p:cNvPr id="3" name="Espace réservé du texte vertical 2">
            <a:extLst>
              <a:ext uri="{FF2B5EF4-FFF2-40B4-BE49-F238E27FC236}">
                <a16:creationId xmlns:a16="http://schemas.microsoft.com/office/drawing/2014/main" id="{2E6846E6-DB45-4811-9066-EB26281BDB3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e la date 3">
            <a:extLst>
              <a:ext uri="{FF2B5EF4-FFF2-40B4-BE49-F238E27FC236}">
                <a16:creationId xmlns:a16="http://schemas.microsoft.com/office/drawing/2014/main" id="{19C8C683-8E96-48FF-A52A-00FB28E142BD}"/>
              </a:ext>
            </a:extLst>
          </p:cNvPr>
          <p:cNvSpPr>
            <a:spLocks noGrp="1"/>
          </p:cNvSpPr>
          <p:nvPr>
            <p:ph type="dt" sz="half" idx="10"/>
          </p:nvPr>
        </p:nvSpPr>
        <p:spPr/>
        <p:txBody>
          <a:body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52785711-F56C-40C3-88C9-0547B21A0931}"/>
              </a:ext>
            </a:extLst>
          </p:cNvPr>
          <p:cNvSpPr>
            <a:spLocks noGrp="1"/>
          </p:cNvSpPr>
          <p:nvPr>
            <p:ph type="ftr" sz="quarter" idx="11"/>
          </p:nvPr>
        </p:nvSpPr>
        <p:spPr/>
        <p:txBody>
          <a:bodyPr/>
          <a:lstStyle/>
          <a:p>
            <a:endParaRPr lang="fr-MC"/>
          </a:p>
        </p:txBody>
      </p:sp>
      <p:sp>
        <p:nvSpPr>
          <p:cNvPr id="6" name="Espace réservé du numéro de diapositive 5">
            <a:extLst>
              <a:ext uri="{FF2B5EF4-FFF2-40B4-BE49-F238E27FC236}">
                <a16:creationId xmlns:a16="http://schemas.microsoft.com/office/drawing/2014/main" id="{E747185D-4718-4D32-BDD7-6202DE104EE2}"/>
              </a:ext>
            </a:extLst>
          </p:cNvPr>
          <p:cNvSpPr>
            <a:spLocks noGrp="1"/>
          </p:cNvSpPr>
          <p:nvPr>
            <p:ph type="sldNum" sz="quarter" idx="12"/>
          </p:nvPr>
        </p:nvSpPr>
        <p:spPr/>
        <p:txBody>
          <a:bodyPr/>
          <a:lstStyle/>
          <a:p>
            <a:fld id="{66FCA8F2-A8FE-4A7B-AF1F-96237D9DB6A7}" type="slidenum">
              <a:rPr lang="fr-MC" smtClean="0"/>
              <a:t>‹N°›</a:t>
            </a:fld>
            <a:endParaRPr lang="fr-MC"/>
          </a:p>
        </p:txBody>
      </p:sp>
    </p:spTree>
    <p:extLst>
      <p:ext uri="{BB962C8B-B14F-4D97-AF65-F5344CB8AC3E}">
        <p14:creationId xmlns:p14="http://schemas.microsoft.com/office/powerpoint/2010/main" val="318864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9071560-6846-4E28-AF2D-61422EB913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C"/>
          </a:p>
        </p:txBody>
      </p:sp>
      <p:sp>
        <p:nvSpPr>
          <p:cNvPr id="3" name="Espace réservé du texte 2">
            <a:extLst>
              <a:ext uri="{FF2B5EF4-FFF2-40B4-BE49-F238E27FC236}">
                <a16:creationId xmlns:a16="http://schemas.microsoft.com/office/drawing/2014/main" id="{9DBDFAA6-61A9-403E-9632-A5A8898105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C"/>
          </a:p>
        </p:txBody>
      </p:sp>
      <p:sp>
        <p:nvSpPr>
          <p:cNvPr id="4" name="Espace réservé de la date 3">
            <a:extLst>
              <a:ext uri="{FF2B5EF4-FFF2-40B4-BE49-F238E27FC236}">
                <a16:creationId xmlns:a16="http://schemas.microsoft.com/office/drawing/2014/main" id="{8E66933C-8467-497F-B012-EF608A53F2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EA2532-FB84-4B48-861D-EFD776CADE7B}" type="datetimeFigureOut">
              <a:rPr lang="fr-MC" smtClean="0"/>
              <a:t>27/01/2026</a:t>
            </a:fld>
            <a:endParaRPr lang="fr-MC"/>
          </a:p>
        </p:txBody>
      </p:sp>
      <p:sp>
        <p:nvSpPr>
          <p:cNvPr id="5" name="Espace réservé du pied de page 4">
            <a:extLst>
              <a:ext uri="{FF2B5EF4-FFF2-40B4-BE49-F238E27FC236}">
                <a16:creationId xmlns:a16="http://schemas.microsoft.com/office/drawing/2014/main" id="{BB5B0A1B-8B75-4B71-A4A4-D05D2479A0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MC"/>
          </a:p>
        </p:txBody>
      </p:sp>
      <p:sp>
        <p:nvSpPr>
          <p:cNvPr id="6" name="Espace réservé du numéro de diapositive 5">
            <a:extLst>
              <a:ext uri="{FF2B5EF4-FFF2-40B4-BE49-F238E27FC236}">
                <a16:creationId xmlns:a16="http://schemas.microsoft.com/office/drawing/2014/main" id="{A50FE492-0BA5-4E30-BDC8-F07DDA9F22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CA8F2-A8FE-4A7B-AF1F-96237D9DB6A7}" type="slidenum">
              <a:rPr lang="fr-MC" smtClean="0"/>
              <a:t>‹N°›</a:t>
            </a:fld>
            <a:endParaRPr lang="fr-MC"/>
          </a:p>
        </p:txBody>
      </p:sp>
    </p:spTree>
    <p:extLst>
      <p:ext uri="{BB962C8B-B14F-4D97-AF65-F5344CB8AC3E}">
        <p14:creationId xmlns:p14="http://schemas.microsoft.com/office/powerpoint/2010/main" val="33577859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a:extLst>
              <a:ext uri="{FF2B5EF4-FFF2-40B4-BE49-F238E27FC236}">
                <a16:creationId xmlns:a16="http://schemas.microsoft.com/office/drawing/2014/main" id="{3888A658-31EC-443E-B503-AEAC20C37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52" y="-927858"/>
            <a:ext cx="12233235" cy="8155490"/>
          </a:xfrm>
          <a:prstGeom prst="rect">
            <a:avLst/>
          </a:prstGeom>
          <a:effectLst>
            <a:reflection stA="0" endPos="65000" dist="50800" dir="5400000" sy="-100000" algn="bl" rotWithShape="0"/>
          </a:effectLst>
        </p:spPr>
      </p:pic>
      <p:sp>
        <p:nvSpPr>
          <p:cNvPr id="35" name="Rectangle 34">
            <a:extLst>
              <a:ext uri="{FF2B5EF4-FFF2-40B4-BE49-F238E27FC236}">
                <a16:creationId xmlns:a16="http://schemas.microsoft.com/office/drawing/2014/main" id="{88BFEE79-6D9D-480E-A95A-7C36D47E23B9}"/>
              </a:ext>
            </a:extLst>
          </p:cNvPr>
          <p:cNvSpPr/>
          <p:nvPr/>
        </p:nvSpPr>
        <p:spPr>
          <a:xfrm>
            <a:off x="-497712" y="-1050403"/>
            <a:ext cx="12928921" cy="8958805"/>
          </a:xfrm>
          <a:prstGeom prst="rect">
            <a:avLst/>
          </a:prstGeom>
          <a:solidFill>
            <a:schemeClr val="bg1">
              <a:alpha val="8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1438366" y="951978"/>
            <a:ext cx="9144000" cy="1296444"/>
          </a:xfrm>
        </p:spPr>
        <p:txBody>
          <a:bodyPr/>
          <a:lstStyle/>
          <a:p>
            <a:r>
              <a:rPr lang="fr-FR" dirty="0"/>
              <a:t> </a:t>
            </a:r>
            <a:endParaRPr lang="fr-MC" dirty="0"/>
          </a:p>
        </p:txBody>
      </p:sp>
      <p:sp>
        <p:nvSpPr>
          <p:cNvPr id="3" name="Sous-titre 2">
            <a:extLst>
              <a:ext uri="{FF2B5EF4-FFF2-40B4-BE49-F238E27FC236}">
                <a16:creationId xmlns:a16="http://schemas.microsoft.com/office/drawing/2014/main" id="{2E4C34E0-E7AD-4724-A51A-7CFB5F3A0653}"/>
              </a:ext>
            </a:extLst>
          </p:cNvPr>
          <p:cNvSpPr>
            <a:spLocks noGrp="1"/>
          </p:cNvSpPr>
          <p:nvPr>
            <p:ph type="subTitle" idx="1"/>
          </p:nvPr>
        </p:nvSpPr>
        <p:spPr/>
        <p:txBody>
          <a:bodyPr/>
          <a:lstStyle/>
          <a:p>
            <a:r>
              <a:rPr lang="fr-FR" dirty="0"/>
              <a:t> </a:t>
            </a:r>
            <a:endParaRPr lang="fr-MC" dirty="0"/>
          </a:p>
        </p:txBody>
      </p:sp>
      <p:sp>
        <p:nvSpPr>
          <p:cNvPr id="4" name="Rectangle 3">
            <a:extLst>
              <a:ext uri="{FF2B5EF4-FFF2-40B4-BE49-F238E27FC236}">
                <a16:creationId xmlns:a16="http://schemas.microsoft.com/office/drawing/2014/main" id="{F79803F5-979B-481C-B8FF-27AC11E3427F}"/>
              </a:ext>
            </a:extLst>
          </p:cNvPr>
          <p:cNvSpPr/>
          <p:nvPr/>
        </p:nvSpPr>
        <p:spPr>
          <a:xfrm>
            <a:off x="3056708" y="0"/>
            <a:ext cx="6078583" cy="5416731"/>
          </a:xfrm>
          <a:prstGeom prst="rect">
            <a:avLst/>
          </a:prstGeom>
          <a:solidFill>
            <a:srgbClr val="92288D"/>
          </a:solidFill>
          <a:effectLst>
            <a:glow>
              <a:schemeClr val="accent1">
                <a:alpha val="83000"/>
              </a:schemeClr>
            </a:glow>
            <a:reflection blurRad="152400" stA="27000" endPos="28000" dist="50800" dir="5400000" sy="-100000" algn="bl" rotWithShape="0"/>
            <a:softEdge rad="38100"/>
          </a:effectLst>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dirty="0"/>
          </a:p>
        </p:txBody>
      </p:sp>
      <p:sp>
        <p:nvSpPr>
          <p:cNvPr id="7" name="Ellipse 6">
            <a:extLst>
              <a:ext uri="{FF2B5EF4-FFF2-40B4-BE49-F238E27FC236}">
                <a16:creationId xmlns:a16="http://schemas.microsoft.com/office/drawing/2014/main" id="{925B3C1D-17CF-4324-896C-AD84156F7060}"/>
              </a:ext>
            </a:extLst>
          </p:cNvPr>
          <p:cNvSpPr/>
          <p:nvPr/>
        </p:nvSpPr>
        <p:spPr>
          <a:xfrm>
            <a:off x="11608253" y="154328"/>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8" name="Ellipse 7">
            <a:extLst>
              <a:ext uri="{FF2B5EF4-FFF2-40B4-BE49-F238E27FC236}">
                <a16:creationId xmlns:a16="http://schemas.microsoft.com/office/drawing/2014/main" id="{64CA7A15-B8F3-4F95-A6CA-94B21262B8E3}"/>
              </a:ext>
            </a:extLst>
          </p:cNvPr>
          <p:cNvSpPr/>
          <p:nvPr/>
        </p:nvSpPr>
        <p:spPr>
          <a:xfrm>
            <a:off x="11608253" y="42211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 name="Ellipse 8">
            <a:extLst>
              <a:ext uri="{FF2B5EF4-FFF2-40B4-BE49-F238E27FC236}">
                <a16:creationId xmlns:a16="http://schemas.microsoft.com/office/drawing/2014/main" id="{835669C5-6117-428C-95D1-48A452303B22}"/>
              </a:ext>
            </a:extLst>
          </p:cNvPr>
          <p:cNvSpPr/>
          <p:nvPr/>
        </p:nvSpPr>
        <p:spPr>
          <a:xfrm>
            <a:off x="11886924" y="42211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0" name="Ellipse 9">
            <a:extLst>
              <a:ext uri="{FF2B5EF4-FFF2-40B4-BE49-F238E27FC236}">
                <a16:creationId xmlns:a16="http://schemas.microsoft.com/office/drawing/2014/main" id="{443183E8-5FF4-433A-95E0-279A14F48EA6}"/>
              </a:ext>
            </a:extLst>
          </p:cNvPr>
          <p:cNvSpPr/>
          <p:nvPr/>
        </p:nvSpPr>
        <p:spPr>
          <a:xfrm>
            <a:off x="11891279" y="154328"/>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4" name="Rectangle 13">
            <a:extLst>
              <a:ext uri="{FF2B5EF4-FFF2-40B4-BE49-F238E27FC236}">
                <a16:creationId xmlns:a16="http://schemas.microsoft.com/office/drawing/2014/main" id="{92F18A7A-C681-4206-B895-836CBCCA6DB6}"/>
              </a:ext>
            </a:extLst>
          </p:cNvPr>
          <p:cNvSpPr/>
          <p:nvPr/>
        </p:nvSpPr>
        <p:spPr>
          <a:xfrm>
            <a:off x="1082040" y="0"/>
            <a:ext cx="1974668" cy="1441269"/>
          </a:xfrm>
          <a:prstGeom prst="rect">
            <a:avLst/>
          </a:prstGeom>
          <a:solidFill>
            <a:srgbClr val="12A5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5" name="Rectangle 14">
            <a:extLst>
              <a:ext uri="{FF2B5EF4-FFF2-40B4-BE49-F238E27FC236}">
                <a16:creationId xmlns:a16="http://schemas.microsoft.com/office/drawing/2014/main" id="{7B7B1243-4A52-49C4-91DE-7965141125DF}"/>
              </a:ext>
            </a:extLst>
          </p:cNvPr>
          <p:cNvSpPr/>
          <p:nvPr/>
        </p:nvSpPr>
        <p:spPr>
          <a:xfrm>
            <a:off x="10198460" y="5416731"/>
            <a:ext cx="1974668" cy="1441269"/>
          </a:xfrm>
          <a:prstGeom prst="rect">
            <a:avLst/>
          </a:prstGeom>
          <a:solidFill>
            <a:srgbClr val="12A5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8" name="ZoneTexte 27">
            <a:extLst>
              <a:ext uri="{FF2B5EF4-FFF2-40B4-BE49-F238E27FC236}">
                <a16:creationId xmlns:a16="http://schemas.microsoft.com/office/drawing/2014/main" id="{6357158B-79D5-4D24-8711-A187CDE064DC}"/>
              </a:ext>
            </a:extLst>
          </p:cNvPr>
          <p:cNvSpPr txBox="1"/>
          <p:nvPr/>
        </p:nvSpPr>
        <p:spPr>
          <a:xfrm>
            <a:off x="3735536" y="2072669"/>
            <a:ext cx="4720926" cy="1077218"/>
          </a:xfrm>
          <a:prstGeom prst="rect">
            <a:avLst/>
          </a:prstGeom>
          <a:noFill/>
        </p:spPr>
        <p:txBody>
          <a:bodyPr wrap="square" rtlCol="0">
            <a:spAutoFit/>
          </a:bodyPr>
          <a:lstStyle/>
          <a:p>
            <a:r>
              <a:rPr lang="fr-MC" sz="3200" dirty="0">
                <a:solidFill>
                  <a:schemeClr val="bg1"/>
                </a:solidFill>
                <a:latin typeface="Poppins Black" panose="00000A00000000000000" pitchFamily="50" charset="0"/>
                <a:cs typeface="Poppins Black" panose="00000A00000000000000" pitchFamily="50" charset="0"/>
              </a:rPr>
              <a:t>NetFlow Optimizer &amp; Security Analyzer</a:t>
            </a:r>
          </a:p>
        </p:txBody>
      </p:sp>
      <p:sp>
        <p:nvSpPr>
          <p:cNvPr id="30" name="Rectangle 29">
            <a:extLst>
              <a:ext uri="{FF2B5EF4-FFF2-40B4-BE49-F238E27FC236}">
                <a16:creationId xmlns:a16="http://schemas.microsoft.com/office/drawing/2014/main" id="{B5AAE917-D51D-412C-BBE9-C515C9E812C3}"/>
              </a:ext>
            </a:extLst>
          </p:cNvPr>
          <p:cNvSpPr/>
          <p:nvPr/>
        </p:nvSpPr>
        <p:spPr>
          <a:xfrm>
            <a:off x="3335842" y="201498"/>
            <a:ext cx="5310447" cy="1500957"/>
          </a:xfrm>
          <a:prstGeom prst="rect">
            <a:avLst/>
          </a:prstGeom>
          <a:gradFill>
            <a:gsLst>
              <a:gs pos="0">
                <a:srgbClr val="92288D"/>
              </a:gs>
              <a:gs pos="66000">
                <a:schemeClr val="bg1"/>
              </a:gs>
              <a:gs pos="50000">
                <a:schemeClr val="bg1"/>
              </a:gs>
              <a:gs pos="100000">
                <a:schemeClr val="bg1"/>
              </a:gs>
              <a:gs pos="80000">
                <a:schemeClr val="bg1"/>
              </a:gs>
              <a:gs pos="90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8233475" y="-30515"/>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90171" y="485233"/>
            <a:ext cx="1500653" cy="1059687"/>
          </a:xfrm>
          <a:prstGeom prst="rect">
            <a:avLst/>
          </a:prstGeom>
        </p:spPr>
      </p:pic>
      <p:sp>
        <p:nvSpPr>
          <p:cNvPr id="29" name="ZoneTexte 28">
            <a:extLst>
              <a:ext uri="{FF2B5EF4-FFF2-40B4-BE49-F238E27FC236}">
                <a16:creationId xmlns:a16="http://schemas.microsoft.com/office/drawing/2014/main" id="{48C7A889-63F5-4669-8F39-31FD5773F459}"/>
              </a:ext>
            </a:extLst>
          </p:cNvPr>
          <p:cNvSpPr txBox="1"/>
          <p:nvPr/>
        </p:nvSpPr>
        <p:spPr>
          <a:xfrm>
            <a:off x="3257887" y="504205"/>
            <a:ext cx="4720926" cy="1077218"/>
          </a:xfrm>
          <a:prstGeom prst="rect">
            <a:avLst/>
          </a:prstGeom>
          <a:noFill/>
        </p:spPr>
        <p:txBody>
          <a:bodyPr wrap="square" rtlCol="0">
            <a:spAutoFit/>
          </a:bodyPr>
          <a:lstStyle/>
          <a:p>
            <a:pPr algn="ctr"/>
            <a:r>
              <a:rPr lang="fr-MC" sz="3200" dirty="0">
                <a:solidFill>
                  <a:srgbClr val="12A552"/>
                </a:solidFill>
                <a:latin typeface="Poppins SemiBold" panose="00000700000000000000" pitchFamily="50" charset="0"/>
                <a:cs typeface="Poppins SemiBold" panose="00000700000000000000" pitchFamily="50" charset="0"/>
              </a:rPr>
              <a:t>Projet de groupe</a:t>
            </a:r>
          </a:p>
          <a:p>
            <a:pPr algn="ctr"/>
            <a:r>
              <a:rPr lang="fr-MC" sz="3200" dirty="0">
                <a:solidFill>
                  <a:srgbClr val="12A552"/>
                </a:solidFill>
                <a:latin typeface="Poppins SemiBold" panose="00000700000000000000" pitchFamily="50" charset="0"/>
                <a:cs typeface="Poppins SemiBold" panose="00000700000000000000" pitchFamily="50" charset="0"/>
              </a:rPr>
              <a:t>Algo</a:t>
            </a:r>
          </a:p>
        </p:txBody>
      </p:sp>
      <p:sp>
        <p:nvSpPr>
          <p:cNvPr id="31" name="ZoneTexte 30">
            <a:extLst>
              <a:ext uri="{FF2B5EF4-FFF2-40B4-BE49-F238E27FC236}">
                <a16:creationId xmlns:a16="http://schemas.microsoft.com/office/drawing/2014/main" id="{BD43DE08-C483-4026-A5F1-99D6B4955407}"/>
              </a:ext>
            </a:extLst>
          </p:cNvPr>
          <p:cNvSpPr txBox="1"/>
          <p:nvPr/>
        </p:nvSpPr>
        <p:spPr>
          <a:xfrm>
            <a:off x="3735536" y="3443107"/>
            <a:ext cx="4720926" cy="1200329"/>
          </a:xfrm>
          <a:prstGeom prst="rect">
            <a:avLst/>
          </a:prstGeom>
          <a:noFill/>
        </p:spPr>
        <p:txBody>
          <a:bodyPr wrap="square" rtlCol="0">
            <a:spAutoFit/>
          </a:bodyPr>
          <a:lstStyle/>
          <a:p>
            <a:r>
              <a:rPr lang="fr-MC" b="1" dirty="0">
                <a:solidFill>
                  <a:schemeClr val="bg1"/>
                </a:solidFill>
                <a:latin typeface="Poppins SemiBold" panose="00000700000000000000" pitchFamily="50" charset="0"/>
                <a:cs typeface="Poppins SemiBold" panose="00000700000000000000" pitchFamily="50" charset="0"/>
              </a:rPr>
              <a:t>UE</a:t>
            </a:r>
            <a:r>
              <a:rPr lang="fr-MC" dirty="0">
                <a:solidFill>
                  <a:schemeClr val="bg1"/>
                </a:solidFill>
              </a:rPr>
              <a:t>: Algorithmique et Complexité</a:t>
            </a:r>
          </a:p>
          <a:p>
            <a:r>
              <a:rPr lang="fr-MC" b="1" dirty="0">
                <a:solidFill>
                  <a:schemeClr val="bg1"/>
                </a:solidFill>
                <a:latin typeface="Poppins SemiBold" panose="00000700000000000000" pitchFamily="50" charset="0"/>
                <a:cs typeface="Poppins SemiBold" panose="00000700000000000000" pitchFamily="50" charset="0"/>
              </a:rPr>
              <a:t>Année</a:t>
            </a:r>
            <a:r>
              <a:rPr lang="fr-MC" dirty="0">
                <a:solidFill>
                  <a:schemeClr val="bg1"/>
                </a:solidFill>
              </a:rPr>
              <a:t> : 2025–2026</a:t>
            </a:r>
          </a:p>
          <a:p>
            <a:r>
              <a:rPr lang="fr-MC" dirty="0">
                <a:solidFill>
                  <a:schemeClr val="bg1"/>
                </a:solidFill>
                <a:latin typeface="Poppins SemiBold" panose="00000700000000000000" pitchFamily="50" charset="0"/>
                <a:cs typeface="Poppins SemiBold" panose="00000700000000000000" pitchFamily="50" charset="0"/>
              </a:rPr>
              <a:t>Université</a:t>
            </a:r>
            <a:r>
              <a:rPr lang="fr-MC" dirty="0">
                <a:solidFill>
                  <a:schemeClr val="bg1"/>
                </a:solidFill>
              </a:rPr>
              <a:t> : UVCI</a:t>
            </a:r>
          </a:p>
          <a:p>
            <a:r>
              <a:rPr lang="fr-MC" dirty="0">
                <a:solidFill>
                  <a:schemeClr val="bg1"/>
                </a:solidFill>
                <a:latin typeface="Poppins SemiBold" panose="00000700000000000000" pitchFamily="50" charset="0"/>
                <a:cs typeface="Poppins SemiBold" panose="00000700000000000000" pitchFamily="50" charset="0"/>
              </a:rPr>
              <a:t>Chef de projet </a:t>
            </a:r>
            <a:r>
              <a:rPr lang="fr-MC" dirty="0">
                <a:solidFill>
                  <a:schemeClr val="bg1"/>
                </a:solidFill>
              </a:rPr>
              <a:t>: Koné Lassina</a:t>
            </a:r>
          </a:p>
        </p:txBody>
      </p:sp>
    </p:spTree>
    <p:extLst>
      <p:ext uri="{BB962C8B-B14F-4D97-AF65-F5344CB8AC3E}">
        <p14:creationId xmlns:p14="http://schemas.microsoft.com/office/powerpoint/2010/main" val="2366901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Image 49">
            <a:extLst>
              <a:ext uri="{FF2B5EF4-FFF2-40B4-BE49-F238E27FC236}">
                <a16:creationId xmlns:a16="http://schemas.microsoft.com/office/drawing/2014/main" id="{B7A49143-0D25-41FB-BEA8-60DFD7E46F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782" y="2018015"/>
            <a:ext cx="4695825" cy="4819650"/>
          </a:xfrm>
          <a:prstGeom prst="rect">
            <a:avLst/>
          </a:prstGeom>
        </p:spPr>
      </p:pic>
      <p:sp>
        <p:nvSpPr>
          <p:cNvPr id="34" name="Rectangle 33">
            <a:extLst>
              <a:ext uri="{FF2B5EF4-FFF2-40B4-BE49-F238E27FC236}">
                <a16:creationId xmlns:a16="http://schemas.microsoft.com/office/drawing/2014/main" id="{407F7C2F-06B8-4345-9EDF-6EE69C132ADF}"/>
              </a:ext>
            </a:extLst>
          </p:cNvPr>
          <p:cNvSpPr/>
          <p:nvPr/>
        </p:nvSpPr>
        <p:spPr>
          <a:xfrm>
            <a:off x="4209233" y="1247282"/>
            <a:ext cx="6949440" cy="4632822"/>
          </a:xfrm>
          <a:prstGeom prst="rect">
            <a:avLst/>
          </a:prstGeom>
          <a:solidFill>
            <a:srgbClr val="92288D"/>
          </a:soli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3" name="Rectangle 32">
            <a:extLst>
              <a:ext uri="{FF2B5EF4-FFF2-40B4-BE49-F238E27FC236}">
                <a16:creationId xmlns:a16="http://schemas.microsoft.com/office/drawing/2014/main" id="{892D5536-A945-4F96-8DFB-B0A5CF77F172}"/>
              </a:ext>
            </a:extLst>
          </p:cNvPr>
          <p:cNvSpPr/>
          <p:nvPr/>
        </p:nvSpPr>
        <p:spPr>
          <a:xfrm>
            <a:off x="1735150" y="1449754"/>
            <a:ext cx="6949440" cy="4632822"/>
          </a:xfrm>
          <a:prstGeom prst="rect">
            <a:avLst/>
          </a:prstGeom>
          <a:solidFill>
            <a:srgbClr val="12A55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348585" y="-49162"/>
            <a:ext cx="4462452" cy="1296444"/>
          </a:xfrm>
        </p:spPr>
        <p:txBody>
          <a:bodyPr/>
          <a:lstStyle/>
          <a:p>
            <a:r>
              <a:rPr lang="fr-FR" dirty="0">
                <a:solidFill>
                  <a:srgbClr val="7030A0"/>
                </a:solidFill>
                <a:latin typeface="Poppins SemiBold" panose="00000700000000000000" pitchFamily="50" charset="0"/>
                <a:cs typeface="Poppins SemiBold" panose="00000700000000000000" pitchFamily="50" charset="0"/>
              </a:rPr>
              <a:t>SOMMAIRE</a:t>
            </a:r>
            <a:r>
              <a:rPr lang="fr-FR" dirty="0">
                <a:latin typeface="Poppins SemiBold" panose="00000700000000000000" pitchFamily="50" charset="0"/>
                <a:cs typeface="Poppins SemiBold" panose="00000700000000000000" pitchFamily="50" charset="0"/>
              </a:rPr>
              <a:t> </a:t>
            </a:r>
            <a:endParaRPr lang="fr-MC"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5" y="-247444"/>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0" y="154328"/>
            <a:ext cx="1500653" cy="1059687"/>
          </a:xfrm>
          <a:prstGeom prst="rect">
            <a:avLst/>
          </a:prstGeom>
        </p:spPr>
      </p:pic>
      <p:sp>
        <p:nvSpPr>
          <p:cNvPr id="32" name="ZoneTexte 31">
            <a:extLst>
              <a:ext uri="{FF2B5EF4-FFF2-40B4-BE49-F238E27FC236}">
                <a16:creationId xmlns:a16="http://schemas.microsoft.com/office/drawing/2014/main" id="{0FFB4D73-C8BF-41BB-8C37-9E7A702C0342}"/>
              </a:ext>
            </a:extLst>
          </p:cNvPr>
          <p:cNvSpPr txBox="1"/>
          <p:nvPr/>
        </p:nvSpPr>
        <p:spPr>
          <a:xfrm>
            <a:off x="2096637" y="1750228"/>
            <a:ext cx="7848600" cy="4031873"/>
          </a:xfrm>
          <a:prstGeom prst="rect">
            <a:avLst/>
          </a:prstGeom>
          <a:noFill/>
        </p:spPr>
        <p:txBody>
          <a:bodyPr wrap="square" rtlCol="0">
            <a:spAutoFit/>
          </a:bodyPr>
          <a:lstStyle/>
          <a:p>
            <a:pPr marL="342900" indent="-342900">
              <a:buAutoNum type="arabicPeriod"/>
            </a:pPr>
            <a:r>
              <a:rPr lang="fr-MC" sz="3200" b="1" dirty="0">
                <a:solidFill>
                  <a:schemeClr val="bg1"/>
                </a:solidFill>
              </a:rPr>
              <a:t>Introduction et contexte</a:t>
            </a:r>
          </a:p>
          <a:p>
            <a:pPr marL="342900" indent="-342900">
              <a:buAutoNum type="arabicPeriod"/>
            </a:pPr>
            <a:r>
              <a:rPr lang="fr-MC" sz="3200" b="1" dirty="0">
                <a:solidFill>
                  <a:schemeClr val="bg1"/>
                </a:solidFill>
              </a:rPr>
              <a:t>Problématique technique</a:t>
            </a:r>
          </a:p>
          <a:p>
            <a:pPr marL="342900" indent="-342900">
              <a:buAutoNum type="arabicPeriod"/>
            </a:pPr>
            <a:r>
              <a:rPr lang="fr-MC" sz="3200" b="1" dirty="0">
                <a:solidFill>
                  <a:schemeClr val="bg1"/>
                </a:solidFill>
              </a:rPr>
              <a:t>Architecture et conception</a:t>
            </a:r>
          </a:p>
          <a:p>
            <a:pPr marL="342900" indent="-342900">
              <a:buAutoNum type="arabicPeriod"/>
            </a:pPr>
            <a:r>
              <a:rPr lang="fr-MC" sz="3200" b="1" dirty="0">
                <a:solidFill>
                  <a:schemeClr val="bg1"/>
                </a:solidFill>
              </a:rPr>
              <a:t>Algorithmes clés </a:t>
            </a:r>
          </a:p>
          <a:p>
            <a:pPr marL="342900" indent="-342900">
              <a:buAutoNum type="arabicPeriod"/>
            </a:pPr>
            <a:r>
              <a:rPr lang="fr-MC" sz="3200" b="1" dirty="0">
                <a:solidFill>
                  <a:schemeClr val="bg1"/>
                </a:solidFill>
              </a:rPr>
              <a:t>Analyse de complexité </a:t>
            </a:r>
          </a:p>
          <a:p>
            <a:pPr marL="342900" indent="-342900">
              <a:buAutoNum type="arabicPeriod"/>
            </a:pPr>
            <a:r>
              <a:rPr lang="fr-MC" sz="3200" b="1" dirty="0">
                <a:solidFill>
                  <a:schemeClr val="bg1"/>
                </a:solidFill>
              </a:rPr>
              <a:t>Résultats expérimentaux</a:t>
            </a:r>
          </a:p>
          <a:p>
            <a:pPr marL="342900" indent="-342900">
              <a:buAutoNum type="arabicPeriod"/>
            </a:pPr>
            <a:r>
              <a:rPr lang="fr-MC" sz="3200" b="1" dirty="0">
                <a:solidFill>
                  <a:schemeClr val="bg1"/>
                </a:solidFill>
              </a:rPr>
              <a:t>Démo</a:t>
            </a:r>
          </a:p>
          <a:p>
            <a:pPr marL="342900" indent="-342900">
              <a:buAutoNum type="arabicPeriod"/>
            </a:pPr>
            <a:r>
              <a:rPr lang="fr-MC" sz="3200" b="1" dirty="0">
                <a:solidFill>
                  <a:schemeClr val="bg1"/>
                </a:solidFill>
              </a:rPr>
              <a:t>Conclusion et perspectives</a:t>
            </a:r>
          </a:p>
        </p:txBody>
      </p:sp>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Tree>
    <p:extLst>
      <p:ext uri="{BB962C8B-B14F-4D97-AF65-F5344CB8AC3E}">
        <p14:creationId xmlns:p14="http://schemas.microsoft.com/office/powerpoint/2010/main" val="3230835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2990041-A7B5-4104-B174-15D194BEA1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944" y="-301631"/>
            <a:ext cx="12681704" cy="7910112"/>
          </a:xfrm>
          <a:prstGeom prst="rect">
            <a:avLst/>
          </a:prstGeom>
        </p:spPr>
      </p:pic>
      <p:sp>
        <p:nvSpPr>
          <p:cNvPr id="9" name="Rectangle 8">
            <a:extLst>
              <a:ext uri="{FF2B5EF4-FFF2-40B4-BE49-F238E27FC236}">
                <a16:creationId xmlns:a16="http://schemas.microsoft.com/office/drawing/2014/main" id="{ED0D17F5-DB69-4D17-8A9C-285A6AD8FA3C}"/>
              </a:ext>
            </a:extLst>
          </p:cNvPr>
          <p:cNvSpPr/>
          <p:nvPr/>
        </p:nvSpPr>
        <p:spPr>
          <a:xfrm>
            <a:off x="-229837" y="-301632"/>
            <a:ext cx="12787597" cy="7910112"/>
          </a:xfrm>
          <a:prstGeom prst="rect">
            <a:avLst/>
          </a:prstGeom>
          <a:solidFill>
            <a:schemeClr val="bg1">
              <a:alpha val="8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3082588" y="362273"/>
            <a:ext cx="6026823"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Introduction</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 name="Rectangle 2">
            <a:extLst>
              <a:ext uri="{FF2B5EF4-FFF2-40B4-BE49-F238E27FC236}">
                <a16:creationId xmlns:a16="http://schemas.microsoft.com/office/drawing/2014/main" id="{822E03E9-7474-498C-A03D-2FE31DEFB2D1}"/>
              </a:ext>
            </a:extLst>
          </p:cNvPr>
          <p:cNvSpPr/>
          <p:nvPr/>
        </p:nvSpPr>
        <p:spPr>
          <a:xfrm>
            <a:off x="2377439" y="1524000"/>
            <a:ext cx="7437120" cy="3959136"/>
          </a:xfrm>
          <a:prstGeom prst="rect">
            <a:avLst/>
          </a:prstGeom>
          <a:solidFill>
            <a:srgbClr val="12A55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 name="ZoneTexte 3">
            <a:extLst>
              <a:ext uri="{FF2B5EF4-FFF2-40B4-BE49-F238E27FC236}">
                <a16:creationId xmlns:a16="http://schemas.microsoft.com/office/drawing/2014/main" id="{90D06CB7-5613-4B0A-BB66-9C0DEAC12B42}"/>
              </a:ext>
            </a:extLst>
          </p:cNvPr>
          <p:cNvSpPr txBox="1"/>
          <p:nvPr/>
        </p:nvSpPr>
        <p:spPr>
          <a:xfrm>
            <a:off x="2733039" y="2090172"/>
            <a:ext cx="6725920" cy="2677656"/>
          </a:xfrm>
          <a:prstGeom prst="rect">
            <a:avLst/>
          </a:prstGeom>
          <a:noFill/>
        </p:spPr>
        <p:txBody>
          <a:bodyPr wrap="square" rtlCol="0">
            <a:spAutoFit/>
          </a:bodyPr>
          <a:lstStyle/>
          <a:p>
            <a:r>
              <a:rPr lang="fr-MC" sz="2400" dirty="0">
                <a:solidFill>
                  <a:schemeClr val="bg1"/>
                </a:solidFill>
              </a:rPr>
              <a:t>Avec l’évolution rapide des réseaux informatiques, le routage efficace des données est devenu un enjeu majeur. Le choix des chemins influence directement la performance, la sécurité et la fiabilité du réseau. Ce projet propose une approche basée sur les graphes et les algorithmes pour analyser et optimiser le routage dans un réseau informatique.</a:t>
            </a:r>
          </a:p>
        </p:txBody>
      </p:sp>
      <p:pic>
        <p:nvPicPr>
          <p:cNvPr id="11" name="Image 10">
            <a:extLst>
              <a:ext uri="{FF2B5EF4-FFF2-40B4-BE49-F238E27FC236}">
                <a16:creationId xmlns:a16="http://schemas.microsoft.com/office/drawing/2014/main" id="{0E24BFF5-2B31-42D8-8A78-AF723CD107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6404" y="1181967"/>
            <a:ext cx="8620717" cy="6095456"/>
          </a:xfrm>
          <a:prstGeom prst="rect">
            <a:avLst/>
          </a:prstGeom>
        </p:spPr>
      </p:pic>
    </p:spTree>
    <p:extLst>
      <p:ext uri="{BB962C8B-B14F-4D97-AF65-F5344CB8AC3E}">
        <p14:creationId xmlns:p14="http://schemas.microsoft.com/office/powerpoint/2010/main" val="2192470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C5F49C5-C068-4511-BC07-9067C73F0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3082588" y="362273"/>
            <a:ext cx="6026823"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Contexte</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 name="Rectangle 2">
            <a:extLst>
              <a:ext uri="{FF2B5EF4-FFF2-40B4-BE49-F238E27FC236}">
                <a16:creationId xmlns:a16="http://schemas.microsoft.com/office/drawing/2014/main" id="{822E03E9-7474-498C-A03D-2FE31DEFB2D1}"/>
              </a:ext>
            </a:extLst>
          </p:cNvPr>
          <p:cNvSpPr/>
          <p:nvPr/>
        </p:nvSpPr>
        <p:spPr>
          <a:xfrm>
            <a:off x="2377439" y="1524000"/>
            <a:ext cx="7437120" cy="3959136"/>
          </a:xfrm>
          <a:prstGeom prst="rect">
            <a:avLst/>
          </a:prstGeom>
          <a:solidFill>
            <a:srgbClr val="12A552"/>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 name="ZoneTexte 3">
            <a:extLst>
              <a:ext uri="{FF2B5EF4-FFF2-40B4-BE49-F238E27FC236}">
                <a16:creationId xmlns:a16="http://schemas.microsoft.com/office/drawing/2014/main" id="{90D06CB7-5613-4B0A-BB66-9C0DEAC12B42}"/>
              </a:ext>
            </a:extLst>
          </p:cNvPr>
          <p:cNvSpPr txBox="1"/>
          <p:nvPr/>
        </p:nvSpPr>
        <p:spPr>
          <a:xfrm>
            <a:off x="2733039" y="1980074"/>
            <a:ext cx="6725920" cy="3046988"/>
          </a:xfrm>
          <a:prstGeom prst="rect">
            <a:avLst/>
          </a:prstGeom>
          <a:noFill/>
        </p:spPr>
        <p:txBody>
          <a:bodyPr wrap="square" rtlCol="0">
            <a:spAutoFit/>
          </a:bodyPr>
          <a:lstStyle/>
          <a:p>
            <a:r>
              <a:rPr lang="fr-MC" sz="2400" dirty="0">
                <a:solidFill>
                  <a:schemeClr val="bg1"/>
                </a:solidFill>
              </a:rPr>
              <a:t>Les réseaux informatiques modernes sont de plus en plus vastes et complexes, notamment dans les domaines de l’IoT, des datacenters et des systèmes distribués. Cette complexité engendre des problèmes de latence, de congestion et de sécurité, rendant indispensable l’utilisation d’algorithmes performants pour analyser et optimiser le routage des données.</a:t>
            </a:r>
          </a:p>
        </p:txBody>
      </p:sp>
    </p:spTree>
    <p:extLst>
      <p:ext uri="{BB962C8B-B14F-4D97-AF65-F5344CB8AC3E}">
        <p14:creationId xmlns:p14="http://schemas.microsoft.com/office/powerpoint/2010/main" val="272953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 name="Image 87">
            <a:extLst>
              <a:ext uri="{FF2B5EF4-FFF2-40B4-BE49-F238E27FC236}">
                <a16:creationId xmlns:a16="http://schemas.microsoft.com/office/drawing/2014/main" id="{8011605B-F8C6-4855-932B-A3ECE4BEC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680"/>
            <a:ext cx="12191999" cy="6964680"/>
          </a:xfrm>
          <a:prstGeom prst="rect">
            <a:avLst/>
          </a:prstGeom>
        </p:spPr>
      </p:pic>
      <p:sp>
        <p:nvSpPr>
          <p:cNvPr id="89" name="Rectangle 88">
            <a:extLst>
              <a:ext uri="{FF2B5EF4-FFF2-40B4-BE49-F238E27FC236}">
                <a16:creationId xmlns:a16="http://schemas.microsoft.com/office/drawing/2014/main" id="{CDF1B1C7-6D2F-49E2-AA8C-7B09121D045E}"/>
              </a:ext>
            </a:extLst>
          </p:cNvPr>
          <p:cNvSpPr/>
          <p:nvPr/>
        </p:nvSpPr>
        <p:spPr>
          <a:xfrm>
            <a:off x="0" y="-126647"/>
            <a:ext cx="12192000" cy="6964680"/>
          </a:xfrm>
          <a:prstGeom prst="rect">
            <a:avLst/>
          </a:prstGeom>
          <a:solidFill>
            <a:schemeClr val="bg1">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3348393" y="267937"/>
            <a:ext cx="6026823" cy="724987"/>
          </a:xfrm>
        </p:spPr>
        <p:txBody>
          <a:bodyPr>
            <a:normAutofit fontScale="90000"/>
          </a:bodyPr>
          <a:lstStyle/>
          <a:p>
            <a:r>
              <a:rPr lang="fr-FR" sz="4000" dirty="0">
                <a:solidFill>
                  <a:srgbClr val="7030A0"/>
                </a:solidFill>
                <a:latin typeface="Poppins SemiBold" panose="00000700000000000000" pitchFamily="50" charset="0"/>
                <a:cs typeface="Poppins SemiBold" panose="00000700000000000000" pitchFamily="50" charset="0"/>
              </a:rPr>
              <a:t>Architecture du système</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3" name="Rectangle 32">
            <a:extLst>
              <a:ext uri="{FF2B5EF4-FFF2-40B4-BE49-F238E27FC236}">
                <a16:creationId xmlns:a16="http://schemas.microsoft.com/office/drawing/2014/main" id="{612C8344-D5D0-4681-9FCC-7654F74A2651}"/>
              </a:ext>
            </a:extLst>
          </p:cNvPr>
          <p:cNvSpPr/>
          <p:nvPr/>
        </p:nvSpPr>
        <p:spPr>
          <a:xfrm>
            <a:off x="271811" y="3636535"/>
            <a:ext cx="2011680" cy="1576095"/>
          </a:xfrm>
          <a:prstGeom prst="rect">
            <a:avLst/>
          </a:prstGeom>
          <a:solidFill>
            <a:schemeClr val="bg1"/>
          </a:solid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8" name="Rectangle 47">
            <a:extLst>
              <a:ext uri="{FF2B5EF4-FFF2-40B4-BE49-F238E27FC236}">
                <a16:creationId xmlns:a16="http://schemas.microsoft.com/office/drawing/2014/main" id="{9DEB1127-8612-4E9B-A97D-267AD822884F}"/>
              </a:ext>
            </a:extLst>
          </p:cNvPr>
          <p:cNvSpPr/>
          <p:nvPr/>
        </p:nvSpPr>
        <p:spPr>
          <a:xfrm>
            <a:off x="2779486" y="3713452"/>
            <a:ext cx="2011680" cy="1576095"/>
          </a:xfrm>
          <a:prstGeom prst="rect">
            <a:avLst/>
          </a:prstGeom>
          <a:solidFill>
            <a:schemeClr val="bg1"/>
          </a:solid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9" name="Rectangle 48">
            <a:extLst>
              <a:ext uri="{FF2B5EF4-FFF2-40B4-BE49-F238E27FC236}">
                <a16:creationId xmlns:a16="http://schemas.microsoft.com/office/drawing/2014/main" id="{7733BFE5-B5AC-473A-A7D2-FD2C66C73194}"/>
              </a:ext>
            </a:extLst>
          </p:cNvPr>
          <p:cNvSpPr/>
          <p:nvPr/>
        </p:nvSpPr>
        <p:spPr>
          <a:xfrm>
            <a:off x="5319919" y="3713452"/>
            <a:ext cx="2011680" cy="1576095"/>
          </a:xfrm>
          <a:prstGeom prst="rect">
            <a:avLst/>
          </a:prstGeom>
          <a:solidFill>
            <a:schemeClr val="bg1"/>
          </a:solid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0" name="Rectangle 49">
            <a:extLst>
              <a:ext uri="{FF2B5EF4-FFF2-40B4-BE49-F238E27FC236}">
                <a16:creationId xmlns:a16="http://schemas.microsoft.com/office/drawing/2014/main" id="{499CD66A-1CCE-4743-958C-AD2764E78EE2}"/>
              </a:ext>
            </a:extLst>
          </p:cNvPr>
          <p:cNvSpPr/>
          <p:nvPr/>
        </p:nvSpPr>
        <p:spPr>
          <a:xfrm>
            <a:off x="7846797" y="3713448"/>
            <a:ext cx="2011680" cy="1576095"/>
          </a:xfrm>
          <a:prstGeom prst="rect">
            <a:avLst/>
          </a:prstGeom>
          <a:solidFill>
            <a:schemeClr val="bg1"/>
          </a:solid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7" name="ZoneTexte 6">
            <a:extLst>
              <a:ext uri="{FF2B5EF4-FFF2-40B4-BE49-F238E27FC236}">
                <a16:creationId xmlns:a16="http://schemas.microsoft.com/office/drawing/2014/main" id="{AF6F5C9C-B81B-4DD9-A345-7E8BFD56F6FE}"/>
              </a:ext>
            </a:extLst>
          </p:cNvPr>
          <p:cNvSpPr txBox="1"/>
          <p:nvPr/>
        </p:nvSpPr>
        <p:spPr>
          <a:xfrm rot="21191312">
            <a:off x="738358" y="3704798"/>
            <a:ext cx="888403" cy="369332"/>
          </a:xfrm>
          <a:prstGeom prst="rect">
            <a:avLst/>
          </a:prstGeom>
          <a:noFill/>
        </p:spPr>
        <p:txBody>
          <a:bodyPr wrap="square" rtlCol="0">
            <a:spAutoFit/>
          </a:bodyPr>
          <a:lstStyle/>
          <a:p>
            <a:r>
              <a:rPr lang="fr-FR" b="1" dirty="0">
                <a:solidFill>
                  <a:srgbClr val="92288D"/>
                </a:solidFill>
              </a:rPr>
              <a:t>Graphe</a:t>
            </a:r>
            <a:endParaRPr lang="fr-MC" b="1" dirty="0">
              <a:solidFill>
                <a:srgbClr val="92288D"/>
              </a:solidFill>
            </a:endParaRPr>
          </a:p>
        </p:txBody>
      </p:sp>
      <p:pic>
        <p:nvPicPr>
          <p:cNvPr id="12" name="Image 11">
            <a:extLst>
              <a:ext uri="{FF2B5EF4-FFF2-40B4-BE49-F238E27FC236}">
                <a16:creationId xmlns:a16="http://schemas.microsoft.com/office/drawing/2014/main" id="{6293BE76-6000-4BDC-B7F2-B7F3C0A9BC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089632">
            <a:off x="880078" y="4097283"/>
            <a:ext cx="721003" cy="654596"/>
          </a:xfrm>
          <a:prstGeom prst="rect">
            <a:avLst/>
          </a:prstGeom>
        </p:spPr>
      </p:pic>
      <p:sp>
        <p:nvSpPr>
          <p:cNvPr id="15" name="ZoneTexte 14">
            <a:extLst>
              <a:ext uri="{FF2B5EF4-FFF2-40B4-BE49-F238E27FC236}">
                <a16:creationId xmlns:a16="http://schemas.microsoft.com/office/drawing/2014/main" id="{4371D734-869A-458A-BADA-1D3AF074405B}"/>
              </a:ext>
            </a:extLst>
          </p:cNvPr>
          <p:cNvSpPr txBox="1"/>
          <p:nvPr/>
        </p:nvSpPr>
        <p:spPr>
          <a:xfrm rot="20986410">
            <a:off x="523560" y="4799939"/>
            <a:ext cx="1567165" cy="307777"/>
          </a:xfrm>
          <a:prstGeom prst="rect">
            <a:avLst/>
          </a:prstGeom>
          <a:noFill/>
        </p:spPr>
        <p:txBody>
          <a:bodyPr wrap="square" rtlCol="0">
            <a:spAutoFit/>
          </a:bodyPr>
          <a:lstStyle/>
          <a:p>
            <a:r>
              <a:rPr lang="fr-FR" sz="1400" dirty="0">
                <a:solidFill>
                  <a:srgbClr val="12A552"/>
                </a:solidFill>
              </a:rPr>
              <a:t>Algo de datacenter</a:t>
            </a:r>
            <a:endParaRPr lang="fr-MC" sz="1400" dirty="0">
              <a:solidFill>
                <a:srgbClr val="12A552"/>
              </a:solidFill>
            </a:endParaRPr>
          </a:p>
        </p:txBody>
      </p:sp>
      <p:sp>
        <p:nvSpPr>
          <p:cNvPr id="51" name="ZoneTexte 50">
            <a:extLst>
              <a:ext uri="{FF2B5EF4-FFF2-40B4-BE49-F238E27FC236}">
                <a16:creationId xmlns:a16="http://schemas.microsoft.com/office/drawing/2014/main" id="{8B65077C-057E-4011-A788-6A0A4D9A00A8}"/>
              </a:ext>
            </a:extLst>
          </p:cNvPr>
          <p:cNvSpPr txBox="1"/>
          <p:nvPr/>
        </p:nvSpPr>
        <p:spPr>
          <a:xfrm rot="21191312">
            <a:off x="3216513" y="3773458"/>
            <a:ext cx="1033875" cy="369332"/>
          </a:xfrm>
          <a:prstGeom prst="rect">
            <a:avLst/>
          </a:prstGeom>
          <a:noFill/>
        </p:spPr>
        <p:txBody>
          <a:bodyPr wrap="square" rtlCol="0">
            <a:spAutoFit/>
          </a:bodyPr>
          <a:lstStyle/>
          <a:p>
            <a:r>
              <a:rPr lang="fr-FR" b="1" dirty="0">
                <a:solidFill>
                  <a:srgbClr val="92288D"/>
                </a:solidFill>
              </a:rPr>
              <a:t>Routage</a:t>
            </a:r>
            <a:endParaRPr lang="fr-MC" b="1" dirty="0">
              <a:solidFill>
                <a:srgbClr val="92288D"/>
              </a:solidFill>
            </a:endParaRPr>
          </a:p>
        </p:txBody>
      </p:sp>
      <p:pic>
        <p:nvPicPr>
          <p:cNvPr id="29" name="Image 28">
            <a:extLst>
              <a:ext uri="{FF2B5EF4-FFF2-40B4-BE49-F238E27FC236}">
                <a16:creationId xmlns:a16="http://schemas.microsoft.com/office/drawing/2014/main" id="{A5F481C2-C947-4CF3-B13A-07E273DCE9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1208208">
            <a:off x="3277402" y="3956504"/>
            <a:ext cx="1089990" cy="1089990"/>
          </a:xfrm>
          <a:prstGeom prst="rect">
            <a:avLst/>
          </a:prstGeom>
        </p:spPr>
      </p:pic>
      <p:sp>
        <p:nvSpPr>
          <p:cNvPr id="52" name="ZoneTexte 51">
            <a:extLst>
              <a:ext uri="{FF2B5EF4-FFF2-40B4-BE49-F238E27FC236}">
                <a16:creationId xmlns:a16="http://schemas.microsoft.com/office/drawing/2014/main" id="{4F4A34AD-210B-4BF5-BD2F-DC0AE5768B77}"/>
              </a:ext>
            </a:extLst>
          </p:cNvPr>
          <p:cNvSpPr txBox="1"/>
          <p:nvPr/>
        </p:nvSpPr>
        <p:spPr>
          <a:xfrm rot="20986410">
            <a:off x="3001744" y="4748492"/>
            <a:ext cx="1567165" cy="492443"/>
          </a:xfrm>
          <a:prstGeom prst="rect">
            <a:avLst/>
          </a:prstGeom>
          <a:noFill/>
        </p:spPr>
        <p:txBody>
          <a:bodyPr wrap="square" rtlCol="0">
            <a:spAutoFit/>
          </a:bodyPr>
          <a:lstStyle/>
          <a:p>
            <a:pPr algn="ctr"/>
            <a:r>
              <a:rPr lang="fr-FR" sz="1300" dirty="0">
                <a:solidFill>
                  <a:srgbClr val="12A552"/>
                </a:solidFill>
              </a:rPr>
              <a:t>Algo de Routage optimal</a:t>
            </a:r>
            <a:endParaRPr lang="fr-MC" sz="1300" dirty="0">
              <a:solidFill>
                <a:srgbClr val="12A552"/>
              </a:solidFill>
            </a:endParaRPr>
          </a:p>
        </p:txBody>
      </p:sp>
      <p:sp>
        <p:nvSpPr>
          <p:cNvPr id="53" name="ZoneTexte 52">
            <a:extLst>
              <a:ext uri="{FF2B5EF4-FFF2-40B4-BE49-F238E27FC236}">
                <a16:creationId xmlns:a16="http://schemas.microsoft.com/office/drawing/2014/main" id="{8EC9CCCA-24A4-4651-A808-C1CC9283738B}"/>
              </a:ext>
            </a:extLst>
          </p:cNvPr>
          <p:cNvSpPr txBox="1"/>
          <p:nvPr/>
        </p:nvSpPr>
        <p:spPr>
          <a:xfrm rot="21191312">
            <a:off x="5536943" y="3826896"/>
            <a:ext cx="1468451" cy="646331"/>
          </a:xfrm>
          <a:prstGeom prst="rect">
            <a:avLst/>
          </a:prstGeom>
          <a:noFill/>
        </p:spPr>
        <p:txBody>
          <a:bodyPr wrap="square" rtlCol="0">
            <a:spAutoFit/>
          </a:bodyPr>
          <a:lstStyle/>
          <a:p>
            <a:pPr algn="ctr"/>
            <a:r>
              <a:rPr lang="fr-FR" b="1" dirty="0">
                <a:solidFill>
                  <a:srgbClr val="92288D"/>
                </a:solidFill>
              </a:rPr>
              <a:t>Analyse de sécurité</a:t>
            </a:r>
            <a:endParaRPr lang="fr-MC" b="1" dirty="0">
              <a:solidFill>
                <a:srgbClr val="92288D"/>
              </a:solidFill>
            </a:endParaRPr>
          </a:p>
        </p:txBody>
      </p:sp>
      <p:sp>
        <p:nvSpPr>
          <p:cNvPr id="54" name="ZoneTexte 53">
            <a:extLst>
              <a:ext uri="{FF2B5EF4-FFF2-40B4-BE49-F238E27FC236}">
                <a16:creationId xmlns:a16="http://schemas.microsoft.com/office/drawing/2014/main" id="{787B2D40-6E5B-4044-A52C-93AA3F8D2476}"/>
              </a:ext>
            </a:extLst>
          </p:cNvPr>
          <p:cNvSpPr txBox="1"/>
          <p:nvPr/>
        </p:nvSpPr>
        <p:spPr>
          <a:xfrm rot="21191312">
            <a:off x="8109871" y="3798900"/>
            <a:ext cx="1468451" cy="461665"/>
          </a:xfrm>
          <a:prstGeom prst="rect">
            <a:avLst/>
          </a:prstGeom>
          <a:noFill/>
        </p:spPr>
        <p:txBody>
          <a:bodyPr wrap="square" rtlCol="0">
            <a:spAutoFit/>
          </a:bodyPr>
          <a:lstStyle/>
          <a:p>
            <a:pPr algn="ctr"/>
            <a:r>
              <a:rPr lang="fr-FR" sz="1200" b="1" dirty="0">
                <a:solidFill>
                  <a:srgbClr val="92288D"/>
                </a:solidFill>
              </a:rPr>
              <a:t>Gestion des files de paquet</a:t>
            </a:r>
            <a:endParaRPr lang="fr-MC" sz="1200" b="1" dirty="0">
              <a:solidFill>
                <a:srgbClr val="92288D"/>
              </a:solidFill>
            </a:endParaRPr>
          </a:p>
        </p:txBody>
      </p:sp>
      <p:pic>
        <p:nvPicPr>
          <p:cNvPr id="31" name="Image 30">
            <a:extLst>
              <a:ext uri="{FF2B5EF4-FFF2-40B4-BE49-F238E27FC236}">
                <a16:creationId xmlns:a16="http://schemas.microsoft.com/office/drawing/2014/main" id="{B52FCAC7-CBDB-4D94-9CC2-573787DA33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36874" y="4056284"/>
            <a:ext cx="1231526" cy="1231526"/>
          </a:xfrm>
          <a:prstGeom prst="rect">
            <a:avLst/>
          </a:prstGeom>
        </p:spPr>
      </p:pic>
      <p:sp>
        <p:nvSpPr>
          <p:cNvPr id="55" name="Flèche : droite 54">
            <a:extLst>
              <a:ext uri="{FF2B5EF4-FFF2-40B4-BE49-F238E27FC236}">
                <a16:creationId xmlns:a16="http://schemas.microsoft.com/office/drawing/2014/main" id="{40671602-640D-4DF1-A857-C8CA9C6EC7DE}"/>
              </a:ext>
            </a:extLst>
          </p:cNvPr>
          <p:cNvSpPr/>
          <p:nvPr/>
        </p:nvSpPr>
        <p:spPr>
          <a:xfrm>
            <a:off x="2174281" y="4302661"/>
            <a:ext cx="426720" cy="243840"/>
          </a:xfrm>
          <a:prstGeom prst="righ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6" name="Flèche : droite 55">
            <a:extLst>
              <a:ext uri="{FF2B5EF4-FFF2-40B4-BE49-F238E27FC236}">
                <a16:creationId xmlns:a16="http://schemas.microsoft.com/office/drawing/2014/main" id="{4E182155-5972-4266-B1E7-2D788DAAC576}"/>
              </a:ext>
            </a:extLst>
          </p:cNvPr>
          <p:cNvSpPr/>
          <p:nvPr/>
        </p:nvSpPr>
        <p:spPr>
          <a:xfrm>
            <a:off x="4664977" y="4302661"/>
            <a:ext cx="426720" cy="243840"/>
          </a:xfrm>
          <a:prstGeom prst="righ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7" name="Flèche : droite 56">
            <a:extLst>
              <a:ext uri="{FF2B5EF4-FFF2-40B4-BE49-F238E27FC236}">
                <a16:creationId xmlns:a16="http://schemas.microsoft.com/office/drawing/2014/main" id="{8DAE96BA-1F31-4CC7-9DB4-BA2720553545}"/>
              </a:ext>
            </a:extLst>
          </p:cNvPr>
          <p:cNvSpPr/>
          <p:nvPr/>
        </p:nvSpPr>
        <p:spPr>
          <a:xfrm>
            <a:off x="7287959" y="4302661"/>
            <a:ext cx="426720" cy="243840"/>
          </a:xfrm>
          <a:prstGeom prst="righ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8" name="Rectangle 57">
            <a:extLst>
              <a:ext uri="{FF2B5EF4-FFF2-40B4-BE49-F238E27FC236}">
                <a16:creationId xmlns:a16="http://schemas.microsoft.com/office/drawing/2014/main" id="{793BAC98-874C-4C55-9F06-CE33858474AC}"/>
              </a:ext>
            </a:extLst>
          </p:cNvPr>
          <p:cNvSpPr/>
          <p:nvPr/>
        </p:nvSpPr>
        <p:spPr>
          <a:xfrm>
            <a:off x="3595270" y="976278"/>
            <a:ext cx="2139414" cy="886805"/>
          </a:xfrm>
          <a:prstGeom prst="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9" name="Rectangle 58">
            <a:extLst>
              <a:ext uri="{FF2B5EF4-FFF2-40B4-BE49-F238E27FC236}">
                <a16:creationId xmlns:a16="http://schemas.microsoft.com/office/drawing/2014/main" id="{8D97BAFA-12F8-4E17-8BFC-23949CD4727E}"/>
              </a:ext>
            </a:extLst>
          </p:cNvPr>
          <p:cNvSpPr/>
          <p:nvPr/>
        </p:nvSpPr>
        <p:spPr>
          <a:xfrm>
            <a:off x="3595270" y="2310921"/>
            <a:ext cx="2139414" cy="886805"/>
          </a:xfrm>
          <a:prstGeom prst="rect">
            <a:avLst/>
          </a:prstGeom>
          <a:solidFill>
            <a:schemeClr val="bg1"/>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0" name="ZoneTexte 59">
            <a:extLst>
              <a:ext uri="{FF2B5EF4-FFF2-40B4-BE49-F238E27FC236}">
                <a16:creationId xmlns:a16="http://schemas.microsoft.com/office/drawing/2014/main" id="{FF975574-0038-4155-AF50-4CF1A06D1547}"/>
              </a:ext>
            </a:extLst>
          </p:cNvPr>
          <p:cNvSpPr txBox="1"/>
          <p:nvPr/>
        </p:nvSpPr>
        <p:spPr>
          <a:xfrm>
            <a:off x="3921373" y="1001663"/>
            <a:ext cx="1637824" cy="369332"/>
          </a:xfrm>
          <a:prstGeom prst="rect">
            <a:avLst/>
          </a:prstGeom>
          <a:noFill/>
        </p:spPr>
        <p:txBody>
          <a:bodyPr wrap="square" rtlCol="0">
            <a:spAutoFit/>
          </a:bodyPr>
          <a:lstStyle/>
          <a:p>
            <a:r>
              <a:rPr lang="fr-FR" b="1" dirty="0">
                <a:solidFill>
                  <a:srgbClr val="92288D"/>
                </a:solidFill>
              </a:rPr>
              <a:t>Fichier Réseau</a:t>
            </a:r>
            <a:endParaRPr lang="fr-MC" b="1" dirty="0">
              <a:solidFill>
                <a:srgbClr val="92288D"/>
              </a:solidFill>
            </a:endParaRPr>
          </a:p>
        </p:txBody>
      </p:sp>
      <p:sp>
        <p:nvSpPr>
          <p:cNvPr id="61" name="ZoneTexte 60">
            <a:extLst>
              <a:ext uri="{FF2B5EF4-FFF2-40B4-BE49-F238E27FC236}">
                <a16:creationId xmlns:a16="http://schemas.microsoft.com/office/drawing/2014/main" id="{79B03EC5-6BBB-436E-94DD-96F3C0235E15}"/>
              </a:ext>
            </a:extLst>
          </p:cNvPr>
          <p:cNvSpPr txBox="1"/>
          <p:nvPr/>
        </p:nvSpPr>
        <p:spPr>
          <a:xfrm>
            <a:off x="3842254" y="2431157"/>
            <a:ext cx="1637824" cy="369332"/>
          </a:xfrm>
          <a:prstGeom prst="rect">
            <a:avLst/>
          </a:prstGeom>
          <a:noFill/>
        </p:spPr>
        <p:txBody>
          <a:bodyPr wrap="square" rtlCol="0">
            <a:spAutoFit/>
          </a:bodyPr>
          <a:lstStyle/>
          <a:p>
            <a:pPr algn="ctr"/>
            <a:r>
              <a:rPr lang="fr-FR" b="1" dirty="0">
                <a:solidFill>
                  <a:srgbClr val="92288D"/>
                </a:solidFill>
              </a:rPr>
              <a:t>Graphe logique</a:t>
            </a:r>
            <a:endParaRPr lang="fr-MC" b="1" dirty="0">
              <a:solidFill>
                <a:srgbClr val="92288D"/>
              </a:solidFill>
            </a:endParaRPr>
          </a:p>
        </p:txBody>
      </p:sp>
      <p:sp>
        <p:nvSpPr>
          <p:cNvPr id="63" name="Flèche : bas 62">
            <a:extLst>
              <a:ext uri="{FF2B5EF4-FFF2-40B4-BE49-F238E27FC236}">
                <a16:creationId xmlns:a16="http://schemas.microsoft.com/office/drawing/2014/main" id="{53FD13F6-049C-47EC-A02F-E9827DDAEEE9}"/>
              </a:ext>
            </a:extLst>
          </p:cNvPr>
          <p:cNvSpPr/>
          <p:nvPr/>
        </p:nvSpPr>
        <p:spPr>
          <a:xfrm>
            <a:off x="4554486" y="1941545"/>
            <a:ext cx="213360" cy="282782"/>
          </a:xfrm>
          <a:prstGeom prst="downArrow">
            <a:avLst/>
          </a:prstGeom>
          <a:solidFill>
            <a:srgbClr val="12A55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5" name="Rectangle 64">
            <a:extLst>
              <a:ext uri="{FF2B5EF4-FFF2-40B4-BE49-F238E27FC236}">
                <a16:creationId xmlns:a16="http://schemas.microsoft.com/office/drawing/2014/main" id="{3AE49203-FBCA-49FC-BE34-3FF6447CFD16}"/>
              </a:ext>
            </a:extLst>
          </p:cNvPr>
          <p:cNvSpPr/>
          <p:nvPr/>
        </p:nvSpPr>
        <p:spPr>
          <a:xfrm>
            <a:off x="1278872" y="2687826"/>
            <a:ext cx="2308776" cy="45719"/>
          </a:xfrm>
          <a:prstGeom prst="rect">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6" name="Rectangle 65">
            <a:extLst>
              <a:ext uri="{FF2B5EF4-FFF2-40B4-BE49-F238E27FC236}">
                <a16:creationId xmlns:a16="http://schemas.microsoft.com/office/drawing/2014/main" id="{CA5F263D-2F92-4854-93CB-98995D4690D7}"/>
              </a:ext>
            </a:extLst>
          </p:cNvPr>
          <p:cNvSpPr/>
          <p:nvPr/>
        </p:nvSpPr>
        <p:spPr>
          <a:xfrm>
            <a:off x="1278567" y="2699670"/>
            <a:ext cx="45719" cy="649582"/>
          </a:xfrm>
          <a:prstGeom prst="rect">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7" name="Flèche : bas 66">
            <a:extLst>
              <a:ext uri="{FF2B5EF4-FFF2-40B4-BE49-F238E27FC236}">
                <a16:creationId xmlns:a16="http://schemas.microsoft.com/office/drawing/2014/main" id="{B6C9BF16-70B8-4776-BA5B-DC658BCD4BC0}"/>
              </a:ext>
            </a:extLst>
          </p:cNvPr>
          <p:cNvSpPr/>
          <p:nvPr/>
        </p:nvSpPr>
        <p:spPr>
          <a:xfrm>
            <a:off x="1258508" y="3349252"/>
            <a:ext cx="85835" cy="102870"/>
          </a:xfrm>
          <a:prstGeom prst="down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72" name="Flèche : virage 71">
            <a:extLst>
              <a:ext uri="{FF2B5EF4-FFF2-40B4-BE49-F238E27FC236}">
                <a16:creationId xmlns:a16="http://schemas.microsoft.com/office/drawing/2014/main" id="{77B53572-B693-4459-8060-B25EAA650F08}"/>
              </a:ext>
            </a:extLst>
          </p:cNvPr>
          <p:cNvSpPr/>
          <p:nvPr/>
        </p:nvSpPr>
        <p:spPr>
          <a:xfrm>
            <a:off x="1653484" y="3416196"/>
            <a:ext cx="4081200" cy="169055"/>
          </a:xfrm>
          <a:prstGeom prst="ben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solidFill>
                <a:schemeClr val="tx1"/>
              </a:solidFill>
            </a:endParaRPr>
          </a:p>
        </p:txBody>
      </p:sp>
      <p:sp>
        <p:nvSpPr>
          <p:cNvPr id="73" name="Flèche : bas 72">
            <a:extLst>
              <a:ext uri="{FF2B5EF4-FFF2-40B4-BE49-F238E27FC236}">
                <a16:creationId xmlns:a16="http://schemas.microsoft.com/office/drawing/2014/main" id="{98FF110F-AD2F-46B7-A1AC-7AEDA421D862}"/>
              </a:ext>
            </a:extLst>
          </p:cNvPr>
          <p:cNvSpPr/>
          <p:nvPr/>
        </p:nvSpPr>
        <p:spPr>
          <a:xfrm>
            <a:off x="5645013" y="3452397"/>
            <a:ext cx="123961" cy="158496"/>
          </a:xfrm>
          <a:prstGeom prst="down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74" name="ZoneTexte 73">
            <a:extLst>
              <a:ext uri="{FF2B5EF4-FFF2-40B4-BE49-F238E27FC236}">
                <a16:creationId xmlns:a16="http://schemas.microsoft.com/office/drawing/2014/main" id="{6D56FE19-F1F9-4811-B47A-DFEDB65864F1}"/>
              </a:ext>
            </a:extLst>
          </p:cNvPr>
          <p:cNvSpPr txBox="1"/>
          <p:nvPr/>
        </p:nvSpPr>
        <p:spPr>
          <a:xfrm>
            <a:off x="2077660" y="4056284"/>
            <a:ext cx="708219" cy="246221"/>
          </a:xfrm>
          <a:prstGeom prst="rect">
            <a:avLst/>
          </a:prstGeom>
          <a:noFill/>
        </p:spPr>
        <p:txBody>
          <a:bodyPr wrap="square" rtlCol="0">
            <a:spAutoFit/>
          </a:bodyPr>
          <a:lstStyle/>
          <a:p>
            <a:r>
              <a:rPr lang="fr-FR" sz="1000" dirty="0"/>
              <a:t>graphes</a:t>
            </a:r>
            <a:endParaRPr lang="fr-MC" sz="1000" dirty="0"/>
          </a:p>
        </p:txBody>
      </p:sp>
      <p:sp>
        <p:nvSpPr>
          <p:cNvPr id="75" name="ZoneTexte 74">
            <a:extLst>
              <a:ext uri="{FF2B5EF4-FFF2-40B4-BE49-F238E27FC236}">
                <a16:creationId xmlns:a16="http://schemas.microsoft.com/office/drawing/2014/main" id="{BC57B022-8449-4395-A4B3-F3718CE21985}"/>
              </a:ext>
            </a:extLst>
          </p:cNvPr>
          <p:cNvSpPr txBox="1"/>
          <p:nvPr/>
        </p:nvSpPr>
        <p:spPr>
          <a:xfrm>
            <a:off x="4545641" y="4051349"/>
            <a:ext cx="708219" cy="246221"/>
          </a:xfrm>
          <a:prstGeom prst="rect">
            <a:avLst/>
          </a:prstGeom>
          <a:noFill/>
        </p:spPr>
        <p:txBody>
          <a:bodyPr wrap="square" rtlCol="0">
            <a:spAutoFit/>
          </a:bodyPr>
          <a:lstStyle/>
          <a:p>
            <a:r>
              <a:rPr lang="fr-FR" sz="1000" dirty="0"/>
              <a:t>graphes</a:t>
            </a:r>
            <a:endParaRPr lang="fr-MC" sz="1000" dirty="0"/>
          </a:p>
        </p:txBody>
      </p:sp>
      <p:sp>
        <p:nvSpPr>
          <p:cNvPr id="76" name="Flèche : gauche 75">
            <a:extLst>
              <a:ext uri="{FF2B5EF4-FFF2-40B4-BE49-F238E27FC236}">
                <a16:creationId xmlns:a16="http://schemas.microsoft.com/office/drawing/2014/main" id="{7FC67B2B-26C1-4A5B-BA06-F4A6AC083049}"/>
              </a:ext>
            </a:extLst>
          </p:cNvPr>
          <p:cNvSpPr/>
          <p:nvPr/>
        </p:nvSpPr>
        <p:spPr>
          <a:xfrm>
            <a:off x="4620876" y="4763668"/>
            <a:ext cx="531452" cy="243840"/>
          </a:xfrm>
          <a:prstGeom prst="lef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77" name="ZoneTexte 76">
            <a:extLst>
              <a:ext uri="{FF2B5EF4-FFF2-40B4-BE49-F238E27FC236}">
                <a16:creationId xmlns:a16="http://schemas.microsoft.com/office/drawing/2014/main" id="{66F1904C-C672-4E4E-B5AA-21FEF6CEAEC5}"/>
              </a:ext>
            </a:extLst>
          </p:cNvPr>
          <p:cNvSpPr txBox="1"/>
          <p:nvPr/>
        </p:nvSpPr>
        <p:spPr>
          <a:xfrm>
            <a:off x="4668404" y="4963513"/>
            <a:ext cx="708219" cy="246221"/>
          </a:xfrm>
          <a:prstGeom prst="rect">
            <a:avLst/>
          </a:prstGeom>
          <a:noFill/>
        </p:spPr>
        <p:txBody>
          <a:bodyPr wrap="square" rtlCol="0">
            <a:spAutoFit/>
          </a:bodyPr>
          <a:lstStyle/>
          <a:p>
            <a:r>
              <a:rPr lang="fr-FR" sz="1000" dirty="0"/>
              <a:t>Alertes</a:t>
            </a:r>
            <a:endParaRPr lang="fr-MC" sz="1000" dirty="0"/>
          </a:p>
        </p:txBody>
      </p:sp>
      <p:sp>
        <p:nvSpPr>
          <p:cNvPr id="79" name="Flèche : angle droit 78">
            <a:extLst>
              <a:ext uri="{FF2B5EF4-FFF2-40B4-BE49-F238E27FC236}">
                <a16:creationId xmlns:a16="http://schemas.microsoft.com/office/drawing/2014/main" id="{177603A6-1FBD-4B24-B7E5-4EC3CCFBAFC6}"/>
              </a:ext>
            </a:extLst>
          </p:cNvPr>
          <p:cNvSpPr/>
          <p:nvPr/>
        </p:nvSpPr>
        <p:spPr>
          <a:xfrm>
            <a:off x="3248348" y="5416754"/>
            <a:ext cx="5041251" cy="343685"/>
          </a:xfrm>
          <a:prstGeom prst="bentUp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dirty="0"/>
          </a:p>
        </p:txBody>
      </p:sp>
      <p:sp>
        <p:nvSpPr>
          <p:cNvPr id="80" name="Rectangle 79">
            <a:extLst>
              <a:ext uri="{FF2B5EF4-FFF2-40B4-BE49-F238E27FC236}">
                <a16:creationId xmlns:a16="http://schemas.microsoft.com/office/drawing/2014/main" id="{70E0B4CC-6035-492D-A554-7C4668FB4E41}"/>
              </a:ext>
            </a:extLst>
          </p:cNvPr>
          <p:cNvSpPr/>
          <p:nvPr/>
        </p:nvSpPr>
        <p:spPr>
          <a:xfrm>
            <a:off x="3249793" y="5408575"/>
            <a:ext cx="78740" cy="283282"/>
          </a:xfrm>
          <a:prstGeom prst="rect">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81" name="Flèche : haut 80">
            <a:extLst>
              <a:ext uri="{FF2B5EF4-FFF2-40B4-BE49-F238E27FC236}">
                <a16:creationId xmlns:a16="http://schemas.microsoft.com/office/drawing/2014/main" id="{D98ABC7E-0931-4607-8E75-D81A131EFEB9}"/>
              </a:ext>
            </a:extLst>
          </p:cNvPr>
          <p:cNvSpPr/>
          <p:nvPr/>
        </p:nvSpPr>
        <p:spPr>
          <a:xfrm>
            <a:off x="6391773" y="5332239"/>
            <a:ext cx="144780" cy="359618"/>
          </a:xfrm>
          <a:prstGeom prst="up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82" name="ZoneTexte 81">
            <a:extLst>
              <a:ext uri="{FF2B5EF4-FFF2-40B4-BE49-F238E27FC236}">
                <a16:creationId xmlns:a16="http://schemas.microsoft.com/office/drawing/2014/main" id="{5D744712-FE79-4280-BFEB-35CD80A1B3D8}"/>
              </a:ext>
            </a:extLst>
          </p:cNvPr>
          <p:cNvSpPr txBox="1"/>
          <p:nvPr/>
        </p:nvSpPr>
        <p:spPr>
          <a:xfrm>
            <a:off x="5226178" y="5764535"/>
            <a:ext cx="1381495" cy="276999"/>
          </a:xfrm>
          <a:prstGeom prst="rect">
            <a:avLst/>
          </a:prstGeom>
          <a:noFill/>
        </p:spPr>
        <p:txBody>
          <a:bodyPr wrap="square" rtlCol="0">
            <a:spAutoFit/>
          </a:bodyPr>
          <a:lstStyle/>
          <a:p>
            <a:r>
              <a:rPr lang="fr-FR" sz="1200" dirty="0"/>
              <a:t>Chemins optimaux</a:t>
            </a:r>
            <a:endParaRPr lang="fr-MC" sz="1200" dirty="0"/>
          </a:p>
        </p:txBody>
      </p:sp>
      <p:sp>
        <p:nvSpPr>
          <p:cNvPr id="85" name="ZoneTexte 84">
            <a:extLst>
              <a:ext uri="{FF2B5EF4-FFF2-40B4-BE49-F238E27FC236}">
                <a16:creationId xmlns:a16="http://schemas.microsoft.com/office/drawing/2014/main" id="{10B1359B-499F-4720-B80E-6A5EE7F8BA22}"/>
              </a:ext>
            </a:extLst>
          </p:cNvPr>
          <p:cNvSpPr txBox="1"/>
          <p:nvPr/>
        </p:nvSpPr>
        <p:spPr>
          <a:xfrm>
            <a:off x="3379340" y="3216714"/>
            <a:ext cx="708219" cy="246221"/>
          </a:xfrm>
          <a:prstGeom prst="rect">
            <a:avLst/>
          </a:prstGeom>
          <a:noFill/>
        </p:spPr>
        <p:txBody>
          <a:bodyPr wrap="square" rtlCol="0">
            <a:spAutoFit/>
          </a:bodyPr>
          <a:lstStyle/>
          <a:p>
            <a:r>
              <a:rPr lang="fr-FR" sz="1000" dirty="0"/>
              <a:t>graphes</a:t>
            </a:r>
            <a:endParaRPr lang="fr-MC" sz="1000" dirty="0"/>
          </a:p>
        </p:txBody>
      </p:sp>
      <p:sp>
        <p:nvSpPr>
          <p:cNvPr id="86" name="ZoneTexte 85">
            <a:extLst>
              <a:ext uri="{FF2B5EF4-FFF2-40B4-BE49-F238E27FC236}">
                <a16:creationId xmlns:a16="http://schemas.microsoft.com/office/drawing/2014/main" id="{20592E9F-CAE7-4313-AC43-DB4191022E25}"/>
              </a:ext>
            </a:extLst>
          </p:cNvPr>
          <p:cNvSpPr txBox="1"/>
          <p:nvPr/>
        </p:nvSpPr>
        <p:spPr>
          <a:xfrm>
            <a:off x="7169030" y="4089924"/>
            <a:ext cx="708219" cy="246221"/>
          </a:xfrm>
          <a:prstGeom prst="rect">
            <a:avLst/>
          </a:prstGeom>
          <a:noFill/>
        </p:spPr>
        <p:txBody>
          <a:bodyPr wrap="square" rtlCol="0">
            <a:spAutoFit/>
          </a:bodyPr>
          <a:lstStyle/>
          <a:p>
            <a:r>
              <a:rPr lang="fr-FR" sz="1000" dirty="0"/>
              <a:t>Alertes</a:t>
            </a:r>
            <a:endParaRPr lang="fr-MC" sz="1000" dirty="0"/>
          </a:p>
        </p:txBody>
      </p:sp>
      <p:sp>
        <p:nvSpPr>
          <p:cNvPr id="90" name="Flèche : droite 89">
            <a:extLst>
              <a:ext uri="{FF2B5EF4-FFF2-40B4-BE49-F238E27FC236}">
                <a16:creationId xmlns:a16="http://schemas.microsoft.com/office/drawing/2014/main" id="{9A299B76-89D7-48C6-9F9B-E13C0EA187EC}"/>
              </a:ext>
            </a:extLst>
          </p:cNvPr>
          <p:cNvSpPr/>
          <p:nvPr/>
        </p:nvSpPr>
        <p:spPr>
          <a:xfrm>
            <a:off x="9672635" y="4257655"/>
            <a:ext cx="426720" cy="243840"/>
          </a:xfrm>
          <a:prstGeom prst="rightArrow">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5" name="Rectangle 94">
            <a:extLst>
              <a:ext uri="{FF2B5EF4-FFF2-40B4-BE49-F238E27FC236}">
                <a16:creationId xmlns:a16="http://schemas.microsoft.com/office/drawing/2014/main" id="{04DA4941-9E65-45FA-82BC-FF38A495114A}"/>
              </a:ext>
            </a:extLst>
          </p:cNvPr>
          <p:cNvSpPr/>
          <p:nvPr/>
        </p:nvSpPr>
        <p:spPr>
          <a:xfrm>
            <a:off x="10099355" y="3618231"/>
            <a:ext cx="1337842" cy="1718310"/>
          </a:xfrm>
          <a:prstGeom prst="rect">
            <a:avLst/>
          </a:prstGeom>
          <a:solidFill>
            <a:srgbClr val="92288D"/>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3" name="Rectangle 92">
            <a:extLst>
              <a:ext uri="{FF2B5EF4-FFF2-40B4-BE49-F238E27FC236}">
                <a16:creationId xmlns:a16="http://schemas.microsoft.com/office/drawing/2014/main" id="{B51FF70A-88C1-492E-8BBA-68B502EB3E0D}"/>
              </a:ext>
            </a:extLst>
          </p:cNvPr>
          <p:cNvSpPr/>
          <p:nvPr/>
        </p:nvSpPr>
        <p:spPr>
          <a:xfrm>
            <a:off x="10287725" y="3996141"/>
            <a:ext cx="981222" cy="287635"/>
          </a:xfrm>
          <a:prstGeom prst="rect">
            <a:avLst/>
          </a:prstGeom>
          <a:solidFill>
            <a:srgbClr val="92288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4" name="ZoneTexte 93">
            <a:extLst>
              <a:ext uri="{FF2B5EF4-FFF2-40B4-BE49-F238E27FC236}">
                <a16:creationId xmlns:a16="http://schemas.microsoft.com/office/drawing/2014/main" id="{0BD21B27-829E-4A25-9159-45AA05F0902F}"/>
              </a:ext>
            </a:extLst>
          </p:cNvPr>
          <p:cNvSpPr txBox="1"/>
          <p:nvPr/>
        </p:nvSpPr>
        <p:spPr>
          <a:xfrm>
            <a:off x="10375813" y="3971334"/>
            <a:ext cx="862766" cy="307777"/>
          </a:xfrm>
          <a:prstGeom prst="rect">
            <a:avLst/>
          </a:prstGeom>
          <a:noFill/>
        </p:spPr>
        <p:txBody>
          <a:bodyPr wrap="square" rtlCol="0">
            <a:spAutoFit/>
          </a:bodyPr>
          <a:lstStyle/>
          <a:p>
            <a:r>
              <a:rPr lang="fr-FR" sz="1400" b="1" dirty="0">
                <a:solidFill>
                  <a:schemeClr val="bg1"/>
                </a:solidFill>
              </a:rPr>
              <a:t>Chemins</a:t>
            </a:r>
            <a:endParaRPr lang="fr-MC" sz="1400" b="1" dirty="0">
              <a:solidFill>
                <a:schemeClr val="bg1"/>
              </a:solidFill>
            </a:endParaRPr>
          </a:p>
        </p:txBody>
      </p:sp>
      <p:sp>
        <p:nvSpPr>
          <p:cNvPr id="96" name="Rectangle 95">
            <a:extLst>
              <a:ext uri="{FF2B5EF4-FFF2-40B4-BE49-F238E27FC236}">
                <a16:creationId xmlns:a16="http://schemas.microsoft.com/office/drawing/2014/main" id="{5A0FFB0C-C8F0-45A5-8049-CB81EEE96EAF}"/>
              </a:ext>
            </a:extLst>
          </p:cNvPr>
          <p:cNvSpPr/>
          <p:nvPr/>
        </p:nvSpPr>
        <p:spPr>
          <a:xfrm>
            <a:off x="10287725" y="4440693"/>
            <a:ext cx="981222" cy="287635"/>
          </a:xfrm>
          <a:prstGeom prst="rect">
            <a:avLst/>
          </a:prstGeom>
          <a:solidFill>
            <a:srgbClr val="92288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7" name="ZoneTexte 96">
            <a:extLst>
              <a:ext uri="{FF2B5EF4-FFF2-40B4-BE49-F238E27FC236}">
                <a16:creationId xmlns:a16="http://schemas.microsoft.com/office/drawing/2014/main" id="{A82D775F-D1D7-48AD-8569-59B2B464E224}"/>
              </a:ext>
            </a:extLst>
          </p:cNvPr>
          <p:cNvSpPr txBox="1"/>
          <p:nvPr/>
        </p:nvSpPr>
        <p:spPr>
          <a:xfrm>
            <a:off x="10375813" y="4415886"/>
            <a:ext cx="862766" cy="307777"/>
          </a:xfrm>
          <a:prstGeom prst="rect">
            <a:avLst/>
          </a:prstGeom>
          <a:noFill/>
        </p:spPr>
        <p:txBody>
          <a:bodyPr wrap="square" rtlCol="0">
            <a:spAutoFit/>
          </a:bodyPr>
          <a:lstStyle/>
          <a:p>
            <a:r>
              <a:rPr lang="fr-FR" sz="1400" b="1" dirty="0">
                <a:solidFill>
                  <a:schemeClr val="bg1"/>
                </a:solidFill>
              </a:rPr>
              <a:t>Alertes</a:t>
            </a:r>
            <a:endParaRPr lang="fr-MC" sz="1400" b="1" dirty="0">
              <a:solidFill>
                <a:schemeClr val="bg1"/>
              </a:solidFill>
            </a:endParaRPr>
          </a:p>
        </p:txBody>
      </p:sp>
      <p:sp>
        <p:nvSpPr>
          <p:cNvPr id="98" name="Rectangle 97">
            <a:extLst>
              <a:ext uri="{FF2B5EF4-FFF2-40B4-BE49-F238E27FC236}">
                <a16:creationId xmlns:a16="http://schemas.microsoft.com/office/drawing/2014/main" id="{788F98E8-2876-49C6-BABE-B0B0478F86F4}"/>
              </a:ext>
            </a:extLst>
          </p:cNvPr>
          <p:cNvSpPr/>
          <p:nvPr/>
        </p:nvSpPr>
        <p:spPr>
          <a:xfrm>
            <a:off x="10311773" y="4870406"/>
            <a:ext cx="981222" cy="287635"/>
          </a:xfrm>
          <a:prstGeom prst="rect">
            <a:avLst/>
          </a:prstGeom>
          <a:solidFill>
            <a:srgbClr val="92288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99" name="ZoneTexte 98">
            <a:extLst>
              <a:ext uri="{FF2B5EF4-FFF2-40B4-BE49-F238E27FC236}">
                <a16:creationId xmlns:a16="http://schemas.microsoft.com/office/drawing/2014/main" id="{06B9F7C6-7AA6-41C3-9438-A55A55ADA261}"/>
              </a:ext>
            </a:extLst>
          </p:cNvPr>
          <p:cNvSpPr txBox="1"/>
          <p:nvPr/>
        </p:nvSpPr>
        <p:spPr>
          <a:xfrm>
            <a:off x="10290346" y="4840824"/>
            <a:ext cx="1082394" cy="307777"/>
          </a:xfrm>
          <a:prstGeom prst="rect">
            <a:avLst/>
          </a:prstGeom>
          <a:noFill/>
        </p:spPr>
        <p:txBody>
          <a:bodyPr wrap="square" rtlCol="0">
            <a:spAutoFit/>
          </a:bodyPr>
          <a:lstStyle/>
          <a:p>
            <a:r>
              <a:rPr lang="fr-FR" sz="1400" b="1" dirty="0">
                <a:solidFill>
                  <a:schemeClr val="bg1"/>
                </a:solidFill>
              </a:rPr>
              <a:t>statistiques</a:t>
            </a:r>
            <a:endParaRPr lang="fr-MC" sz="1400" b="1" dirty="0">
              <a:solidFill>
                <a:schemeClr val="bg1"/>
              </a:solidFill>
            </a:endParaRPr>
          </a:p>
        </p:txBody>
      </p:sp>
      <p:sp>
        <p:nvSpPr>
          <p:cNvPr id="100" name="ZoneTexte 99">
            <a:extLst>
              <a:ext uri="{FF2B5EF4-FFF2-40B4-BE49-F238E27FC236}">
                <a16:creationId xmlns:a16="http://schemas.microsoft.com/office/drawing/2014/main" id="{346E2306-7C1A-46B8-8526-E75E768FA030}"/>
              </a:ext>
            </a:extLst>
          </p:cNvPr>
          <p:cNvSpPr txBox="1"/>
          <p:nvPr/>
        </p:nvSpPr>
        <p:spPr>
          <a:xfrm>
            <a:off x="10410028" y="3598495"/>
            <a:ext cx="756015" cy="307777"/>
          </a:xfrm>
          <a:prstGeom prst="rect">
            <a:avLst/>
          </a:prstGeom>
          <a:solidFill>
            <a:srgbClr val="12A552"/>
          </a:solidFill>
        </p:spPr>
        <p:txBody>
          <a:bodyPr wrap="square" rtlCol="0">
            <a:spAutoFit/>
          </a:bodyPr>
          <a:lstStyle/>
          <a:p>
            <a:r>
              <a:rPr lang="fr-FR" sz="1400" b="1" dirty="0">
                <a:solidFill>
                  <a:schemeClr val="bg1"/>
                </a:solidFill>
              </a:rPr>
              <a:t>Sorties</a:t>
            </a:r>
            <a:endParaRPr lang="fr-MC" sz="1400" b="1" dirty="0">
              <a:solidFill>
                <a:schemeClr val="bg1"/>
              </a:solidFill>
            </a:endParaRPr>
          </a:p>
        </p:txBody>
      </p:sp>
    </p:spTree>
    <p:extLst>
      <p:ext uri="{BB962C8B-B14F-4D97-AF65-F5344CB8AC3E}">
        <p14:creationId xmlns:p14="http://schemas.microsoft.com/office/powerpoint/2010/main" val="2214497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Image 61">
            <a:extLst>
              <a:ext uri="{FF2B5EF4-FFF2-40B4-BE49-F238E27FC236}">
                <a16:creationId xmlns:a16="http://schemas.microsoft.com/office/drawing/2014/main" id="{6749DB36-9DDE-4C5A-A9D6-66461CA19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010" y="0"/>
            <a:ext cx="12806010" cy="6858000"/>
          </a:xfrm>
          <a:prstGeom prst="rect">
            <a:avLst/>
          </a:prstGeom>
        </p:spPr>
      </p:pic>
      <p:sp>
        <p:nvSpPr>
          <p:cNvPr id="64" name="Rectangle 63">
            <a:extLst>
              <a:ext uri="{FF2B5EF4-FFF2-40B4-BE49-F238E27FC236}">
                <a16:creationId xmlns:a16="http://schemas.microsoft.com/office/drawing/2014/main" id="{97402D7C-1A52-433B-9635-2E284E9E7C9E}"/>
              </a:ext>
            </a:extLst>
          </p:cNvPr>
          <p:cNvSpPr/>
          <p:nvPr/>
        </p:nvSpPr>
        <p:spPr>
          <a:xfrm>
            <a:off x="-614010" y="0"/>
            <a:ext cx="12806010" cy="6891637"/>
          </a:xfrm>
          <a:prstGeom prst="rect">
            <a:avLst/>
          </a:prstGeom>
          <a:solidFill>
            <a:schemeClr val="bg1">
              <a:alpha val="9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3371660" y="175797"/>
            <a:ext cx="6026823" cy="724987"/>
          </a:xfrm>
        </p:spPr>
        <p:txBody>
          <a:bodyPr>
            <a:normAutofit fontScale="90000"/>
          </a:bodyPr>
          <a:lstStyle/>
          <a:p>
            <a:r>
              <a:rPr lang="fr-FR" sz="4000" dirty="0">
                <a:solidFill>
                  <a:srgbClr val="7030A0"/>
                </a:solidFill>
                <a:latin typeface="Poppins SemiBold" panose="00000700000000000000" pitchFamily="50" charset="0"/>
                <a:cs typeface="Poppins SemiBold" panose="00000700000000000000" pitchFamily="50" charset="0"/>
              </a:rPr>
              <a:t>Conception du système</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1194201" y="54490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1194201" y="81269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472872" y="81269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477227" y="54490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709004" y="7924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709004" y="34703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987675" y="34703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992030" y="7924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709004" y="53644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709004" y="80423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987675" y="80423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992030" y="53644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 name="Rectangle 4">
            <a:extLst>
              <a:ext uri="{FF2B5EF4-FFF2-40B4-BE49-F238E27FC236}">
                <a16:creationId xmlns:a16="http://schemas.microsoft.com/office/drawing/2014/main" id="{44E433FE-FAF0-410D-A818-B45928BA2015}"/>
              </a:ext>
            </a:extLst>
          </p:cNvPr>
          <p:cNvSpPr/>
          <p:nvPr/>
        </p:nvSpPr>
        <p:spPr>
          <a:xfrm>
            <a:off x="7544556" y="3026240"/>
            <a:ext cx="3928316" cy="3831760"/>
          </a:xfrm>
          <a:prstGeom prst="rect">
            <a:avLst/>
          </a:prstGeom>
          <a:solidFill>
            <a:srgbClr val="92288D"/>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28" name="Image 27">
            <a:extLst>
              <a:ext uri="{FF2B5EF4-FFF2-40B4-BE49-F238E27FC236}">
                <a16:creationId xmlns:a16="http://schemas.microsoft.com/office/drawing/2014/main" id="{784E8968-CD63-48DB-8C16-DBC5A904CE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0190" y="149993"/>
            <a:ext cx="6776586" cy="6776586"/>
          </a:xfrm>
          <a:prstGeom prst="rect">
            <a:avLst/>
          </a:prstGeom>
        </p:spPr>
      </p:pic>
      <p:sp>
        <p:nvSpPr>
          <p:cNvPr id="34" name="ZoneTexte 33">
            <a:extLst>
              <a:ext uri="{FF2B5EF4-FFF2-40B4-BE49-F238E27FC236}">
                <a16:creationId xmlns:a16="http://schemas.microsoft.com/office/drawing/2014/main" id="{CC38A3E0-AB24-445F-A338-2FDF0A57AEC2}"/>
              </a:ext>
            </a:extLst>
          </p:cNvPr>
          <p:cNvSpPr txBox="1"/>
          <p:nvPr/>
        </p:nvSpPr>
        <p:spPr>
          <a:xfrm>
            <a:off x="1437669" y="2310221"/>
            <a:ext cx="6401556" cy="830997"/>
          </a:xfrm>
          <a:prstGeom prst="rect">
            <a:avLst/>
          </a:prstGeom>
          <a:noFill/>
        </p:spPr>
        <p:txBody>
          <a:bodyPr wrap="square" rtlCol="0">
            <a:spAutoFit/>
          </a:bodyPr>
          <a:lstStyle/>
          <a:p>
            <a:pPr marL="342900" indent="-342900">
              <a:buFont typeface="Wingdings" panose="05000000000000000000" pitchFamily="2" charset="2"/>
              <a:buChar char="q"/>
            </a:pPr>
            <a:r>
              <a:rPr lang="fr-MC" sz="2400" b="1" dirty="0">
                <a:solidFill>
                  <a:srgbClr val="12A552"/>
                </a:solidFill>
              </a:rPr>
              <a:t>Modélisation du réseau par un graphe pondéré</a:t>
            </a:r>
          </a:p>
        </p:txBody>
      </p:sp>
      <p:sp>
        <p:nvSpPr>
          <p:cNvPr id="78" name="ZoneTexte 77">
            <a:extLst>
              <a:ext uri="{FF2B5EF4-FFF2-40B4-BE49-F238E27FC236}">
                <a16:creationId xmlns:a16="http://schemas.microsoft.com/office/drawing/2014/main" id="{F165AA68-37F2-4787-90F2-4A88FCC0D450}"/>
              </a:ext>
            </a:extLst>
          </p:cNvPr>
          <p:cNvSpPr txBox="1"/>
          <p:nvPr/>
        </p:nvSpPr>
        <p:spPr>
          <a:xfrm>
            <a:off x="1437669" y="3391760"/>
            <a:ext cx="5257800" cy="461665"/>
          </a:xfrm>
          <a:prstGeom prst="rect">
            <a:avLst/>
          </a:prstGeom>
          <a:noFill/>
        </p:spPr>
        <p:txBody>
          <a:bodyPr wrap="square" rtlCol="0">
            <a:spAutoFit/>
          </a:bodyPr>
          <a:lstStyle/>
          <a:p>
            <a:pPr marL="342900" indent="-342900">
              <a:buFont typeface="Wingdings" panose="05000000000000000000" pitchFamily="2" charset="2"/>
              <a:buChar char="q"/>
            </a:pPr>
            <a:r>
              <a:rPr lang="fr-MC" sz="2400" b="1" dirty="0">
                <a:solidFill>
                  <a:srgbClr val="12A552"/>
                </a:solidFill>
              </a:rPr>
              <a:t>Architecture modulaire et évolutive</a:t>
            </a:r>
          </a:p>
        </p:txBody>
      </p:sp>
      <p:sp>
        <p:nvSpPr>
          <p:cNvPr id="83" name="ZoneTexte 82">
            <a:extLst>
              <a:ext uri="{FF2B5EF4-FFF2-40B4-BE49-F238E27FC236}">
                <a16:creationId xmlns:a16="http://schemas.microsoft.com/office/drawing/2014/main" id="{CCFC76F8-C7B1-4B6F-8CC0-1048B6D893E5}"/>
              </a:ext>
            </a:extLst>
          </p:cNvPr>
          <p:cNvSpPr txBox="1"/>
          <p:nvPr/>
        </p:nvSpPr>
        <p:spPr>
          <a:xfrm>
            <a:off x="1437669" y="4013075"/>
            <a:ext cx="5257800" cy="830997"/>
          </a:xfrm>
          <a:prstGeom prst="rect">
            <a:avLst/>
          </a:prstGeom>
          <a:noFill/>
        </p:spPr>
        <p:txBody>
          <a:bodyPr wrap="square" rtlCol="0">
            <a:spAutoFit/>
          </a:bodyPr>
          <a:lstStyle/>
          <a:p>
            <a:pPr marL="342900" indent="-342900">
              <a:buFont typeface="Wingdings" panose="05000000000000000000" pitchFamily="2" charset="2"/>
              <a:buChar char="q"/>
            </a:pPr>
            <a:r>
              <a:rPr lang="fr-MC" sz="2400" b="1" dirty="0">
                <a:solidFill>
                  <a:srgbClr val="12A552"/>
                </a:solidFill>
              </a:rPr>
              <a:t>Séparation claire entre données et algorithmes</a:t>
            </a:r>
          </a:p>
        </p:txBody>
      </p:sp>
      <p:sp>
        <p:nvSpPr>
          <p:cNvPr id="87" name="ZoneTexte 86">
            <a:extLst>
              <a:ext uri="{FF2B5EF4-FFF2-40B4-BE49-F238E27FC236}">
                <a16:creationId xmlns:a16="http://schemas.microsoft.com/office/drawing/2014/main" id="{FF6B5C8B-C4C7-4DF3-AAAA-8E1BF4286D3C}"/>
              </a:ext>
            </a:extLst>
          </p:cNvPr>
          <p:cNvSpPr txBox="1"/>
          <p:nvPr/>
        </p:nvSpPr>
        <p:spPr>
          <a:xfrm>
            <a:off x="1437669" y="5064137"/>
            <a:ext cx="5257800" cy="830997"/>
          </a:xfrm>
          <a:prstGeom prst="rect">
            <a:avLst/>
          </a:prstGeom>
          <a:noFill/>
        </p:spPr>
        <p:txBody>
          <a:bodyPr wrap="square" rtlCol="0">
            <a:spAutoFit/>
          </a:bodyPr>
          <a:lstStyle/>
          <a:p>
            <a:pPr marL="342900" indent="-342900">
              <a:buFont typeface="Wingdings" panose="05000000000000000000" pitchFamily="2" charset="2"/>
              <a:buChar char="q"/>
            </a:pPr>
            <a:r>
              <a:rPr lang="fr-MC" sz="2400" b="1" dirty="0">
                <a:solidFill>
                  <a:srgbClr val="12A552"/>
                </a:solidFill>
              </a:rPr>
              <a:t>Optimisation basée sur la complexité algorithmique</a:t>
            </a:r>
          </a:p>
        </p:txBody>
      </p:sp>
    </p:spTree>
    <p:extLst>
      <p:ext uri="{BB962C8B-B14F-4D97-AF65-F5344CB8AC3E}">
        <p14:creationId xmlns:p14="http://schemas.microsoft.com/office/powerpoint/2010/main" val="2387441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916950" y="215058"/>
            <a:ext cx="6026823"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Algorithmiques clés</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8" name="Titre 1">
            <a:extLst>
              <a:ext uri="{FF2B5EF4-FFF2-40B4-BE49-F238E27FC236}">
                <a16:creationId xmlns:a16="http://schemas.microsoft.com/office/drawing/2014/main" id="{9D99FF72-7603-4A4E-A9D7-F24B3583E549}"/>
              </a:ext>
            </a:extLst>
          </p:cNvPr>
          <p:cNvSpPr txBox="1">
            <a:spLocks/>
          </p:cNvSpPr>
          <p:nvPr/>
        </p:nvSpPr>
        <p:spPr>
          <a:xfrm>
            <a:off x="2990970" y="754158"/>
            <a:ext cx="6026823" cy="724987"/>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4000" dirty="0">
                <a:solidFill>
                  <a:srgbClr val="7030A0"/>
                </a:solidFill>
                <a:latin typeface="Poppins SemiBold" panose="00000700000000000000" pitchFamily="50" charset="0"/>
                <a:cs typeface="Poppins SemiBold" panose="00000700000000000000" pitchFamily="50" charset="0"/>
              </a:rPr>
              <a:t>Dijkstra: </a:t>
            </a:r>
            <a:r>
              <a:rPr lang="fr-FR" sz="4000" dirty="0">
                <a:solidFill>
                  <a:srgbClr val="12A552"/>
                </a:solidFill>
                <a:latin typeface="Poppins SemiBold" panose="00000700000000000000" pitchFamily="50" charset="0"/>
                <a:cs typeface="Poppins SemiBold" panose="00000700000000000000" pitchFamily="50" charset="0"/>
              </a:rPr>
              <a:t>Chemin le plus court</a:t>
            </a:r>
            <a:endParaRPr lang="fr-MC" sz="4000" dirty="0">
              <a:solidFill>
                <a:srgbClr val="12A552"/>
              </a:solidFill>
              <a:latin typeface="Poppins SemiBold" panose="00000700000000000000" pitchFamily="50" charset="0"/>
              <a:cs typeface="Poppins SemiBold" panose="00000700000000000000" pitchFamily="50" charset="0"/>
            </a:endParaRPr>
          </a:p>
        </p:txBody>
      </p:sp>
      <p:sp>
        <p:nvSpPr>
          <p:cNvPr id="5" name="Rectangle 4">
            <a:extLst>
              <a:ext uri="{FF2B5EF4-FFF2-40B4-BE49-F238E27FC236}">
                <a16:creationId xmlns:a16="http://schemas.microsoft.com/office/drawing/2014/main" id="{226C6D41-24BD-47CC-9F18-1AF6B2F70657}"/>
              </a:ext>
            </a:extLst>
          </p:cNvPr>
          <p:cNvSpPr/>
          <p:nvPr/>
        </p:nvSpPr>
        <p:spPr>
          <a:xfrm>
            <a:off x="5914621" y="1776322"/>
            <a:ext cx="6026823" cy="4594460"/>
          </a:xfrm>
          <a:prstGeom prst="rect">
            <a:avLst/>
          </a:prstGeom>
          <a:solidFill>
            <a:srgbClr val="92288D"/>
          </a:solidFill>
          <a:ln w="3492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dirty="0"/>
          </a:p>
        </p:txBody>
      </p:sp>
      <p:sp>
        <p:nvSpPr>
          <p:cNvPr id="8" name="ZoneTexte 7">
            <a:extLst>
              <a:ext uri="{FF2B5EF4-FFF2-40B4-BE49-F238E27FC236}">
                <a16:creationId xmlns:a16="http://schemas.microsoft.com/office/drawing/2014/main" id="{2A181034-0609-4105-8453-521610C0A4D6}"/>
              </a:ext>
            </a:extLst>
          </p:cNvPr>
          <p:cNvSpPr txBox="1"/>
          <p:nvPr/>
        </p:nvSpPr>
        <p:spPr>
          <a:xfrm>
            <a:off x="6096001" y="1900422"/>
            <a:ext cx="6127970" cy="4247317"/>
          </a:xfrm>
          <a:prstGeom prst="rect">
            <a:avLst/>
          </a:prstGeom>
          <a:noFill/>
        </p:spPr>
        <p:txBody>
          <a:bodyPr wrap="square" rtlCol="0">
            <a:spAutoFit/>
          </a:bodyPr>
          <a:lstStyle/>
          <a:p>
            <a:r>
              <a:rPr lang="fr-MC" dirty="0">
                <a:solidFill>
                  <a:schemeClr val="bg1"/>
                </a:solidFill>
              </a:rPr>
              <a:t>Entrée : Graphe G(V, E), source s</a:t>
            </a:r>
          </a:p>
          <a:p>
            <a:r>
              <a:rPr lang="fr-MC" dirty="0">
                <a:solidFill>
                  <a:schemeClr val="bg1"/>
                </a:solidFill>
              </a:rPr>
              <a:t>Initialiser : distance[v] = ∞ pour tout v ∈ V</a:t>
            </a:r>
          </a:p>
          <a:p>
            <a:r>
              <a:rPr lang="fr-MC" dirty="0">
                <a:solidFill>
                  <a:schemeClr val="bg1"/>
                </a:solidFill>
              </a:rPr>
              <a:t>distance[s] = 0</a:t>
            </a:r>
          </a:p>
          <a:p>
            <a:r>
              <a:rPr lang="fr-MC" dirty="0">
                <a:solidFill>
                  <a:schemeClr val="bg1"/>
                </a:solidFill>
              </a:rPr>
              <a:t>Q = ensemble des nœuds non visités</a:t>
            </a:r>
          </a:p>
          <a:p>
            <a:endParaRPr lang="fr-MC" dirty="0">
              <a:solidFill>
                <a:schemeClr val="bg1"/>
              </a:solidFill>
            </a:endParaRPr>
          </a:p>
          <a:p>
            <a:r>
              <a:rPr lang="fr-MC" dirty="0">
                <a:solidFill>
                  <a:schemeClr val="bg1"/>
                </a:solidFill>
              </a:rPr>
              <a:t>Tant que Q n’est pas vide :</a:t>
            </a:r>
          </a:p>
          <a:p>
            <a:r>
              <a:rPr lang="fr-MC" dirty="0">
                <a:solidFill>
                  <a:schemeClr val="bg1"/>
                </a:solidFill>
              </a:rPr>
              <a:t>    u = nœud dans Q avec distance minimale</a:t>
            </a:r>
          </a:p>
          <a:p>
            <a:r>
              <a:rPr lang="fr-MC" dirty="0">
                <a:solidFill>
                  <a:schemeClr val="bg1"/>
                </a:solidFill>
              </a:rPr>
              <a:t>    Retirer u de Q</a:t>
            </a:r>
          </a:p>
          <a:p>
            <a:r>
              <a:rPr lang="fr-MC" dirty="0">
                <a:solidFill>
                  <a:schemeClr val="bg1"/>
                </a:solidFill>
              </a:rPr>
              <a:t>    Pour chaque voisin v de u :</a:t>
            </a:r>
          </a:p>
          <a:p>
            <a:r>
              <a:rPr lang="fr-MC" dirty="0">
                <a:solidFill>
                  <a:schemeClr val="bg1"/>
                </a:solidFill>
              </a:rPr>
              <a:t>        alt = distance[u] + poids(u, v)</a:t>
            </a:r>
          </a:p>
          <a:p>
            <a:r>
              <a:rPr lang="fr-MC" dirty="0">
                <a:solidFill>
                  <a:schemeClr val="bg1"/>
                </a:solidFill>
              </a:rPr>
              <a:t>        Si alt &lt; distance[v] :</a:t>
            </a:r>
          </a:p>
          <a:p>
            <a:r>
              <a:rPr lang="fr-MC" dirty="0">
                <a:solidFill>
                  <a:schemeClr val="bg1"/>
                </a:solidFill>
              </a:rPr>
              <a:t>            distance[v] = alt</a:t>
            </a:r>
          </a:p>
          <a:p>
            <a:r>
              <a:rPr lang="fr-MC" dirty="0">
                <a:solidFill>
                  <a:schemeClr val="bg1"/>
                </a:solidFill>
              </a:rPr>
              <a:t>            prédécesseur[v] = u</a:t>
            </a:r>
          </a:p>
          <a:p>
            <a:endParaRPr lang="fr-MC" dirty="0">
              <a:solidFill>
                <a:schemeClr val="bg1"/>
              </a:solidFill>
            </a:endParaRPr>
          </a:p>
          <a:p>
            <a:r>
              <a:rPr lang="fr-MC" dirty="0">
                <a:solidFill>
                  <a:schemeClr val="bg1"/>
                </a:solidFill>
              </a:rPr>
              <a:t>Sortie : distance[] et prédécesseur[] (chemins les plus courts)</a:t>
            </a:r>
          </a:p>
        </p:txBody>
      </p:sp>
      <p:sp>
        <p:nvSpPr>
          <p:cNvPr id="10" name="ZoneTexte 9">
            <a:extLst>
              <a:ext uri="{FF2B5EF4-FFF2-40B4-BE49-F238E27FC236}">
                <a16:creationId xmlns:a16="http://schemas.microsoft.com/office/drawing/2014/main" id="{2C8AE8BD-90E6-4CCA-8A0B-CCE9ECFA9501}"/>
              </a:ext>
            </a:extLst>
          </p:cNvPr>
          <p:cNvSpPr txBox="1"/>
          <p:nvPr/>
        </p:nvSpPr>
        <p:spPr>
          <a:xfrm>
            <a:off x="1735148" y="2102451"/>
            <a:ext cx="1406796" cy="461665"/>
          </a:xfrm>
          <a:prstGeom prst="rect">
            <a:avLst/>
          </a:prstGeom>
          <a:noFill/>
        </p:spPr>
        <p:txBody>
          <a:bodyPr wrap="square" rtlCol="0">
            <a:spAutoFit/>
          </a:bodyPr>
          <a:lstStyle/>
          <a:p>
            <a:r>
              <a:rPr lang="fr-FR" sz="2400" b="1" dirty="0"/>
              <a:t>Objectifs:</a:t>
            </a:r>
            <a:endParaRPr lang="fr-MC" sz="2400" b="1" dirty="0"/>
          </a:p>
        </p:txBody>
      </p:sp>
      <p:sp>
        <p:nvSpPr>
          <p:cNvPr id="11" name="ZoneTexte 10">
            <a:extLst>
              <a:ext uri="{FF2B5EF4-FFF2-40B4-BE49-F238E27FC236}">
                <a16:creationId xmlns:a16="http://schemas.microsoft.com/office/drawing/2014/main" id="{3A2AFA09-7A3E-4ACF-B5FE-968C1C00B76C}"/>
              </a:ext>
            </a:extLst>
          </p:cNvPr>
          <p:cNvSpPr txBox="1"/>
          <p:nvPr/>
        </p:nvSpPr>
        <p:spPr>
          <a:xfrm>
            <a:off x="752655" y="2635713"/>
            <a:ext cx="4664297" cy="1200329"/>
          </a:xfrm>
          <a:prstGeom prst="rect">
            <a:avLst/>
          </a:prstGeom>
          <a:noFill/>
        </p:spPr>
        <p:txBody>
          <a:bodyPr wrap="square" rtlCol="0">
            <a:spAutoFit/>
          </a:bodyPr>
          <a:lstStyle/>
          <a:p>
            <a:r>
              <a:rPr lang="fr-MC" sz="2400" dirty="0"/>
              <a:t>Trouver le chemin le plus court d’un nœud source à tous les autres nœuds dans un graphe pondéré.</a:t>
            </a:r>
          </a:p>
        </p:txBody>
      </p:sp>
      <p:sp>
        <p:nvSpPr>
          <p:cNvPr id="78" name="ZoneTexte 77">
            <a:extLst>
              <a:ext uri="{FF2B5EF4-FFF2-40B4-BE49-F238E27FC236}">
                <a16:creationId xmlns:a16="http://schemas.microsoft.com/office/drawing/2014/main" id="{A7231FD3-794F-4771-A9E5-5D3A9BC4B79B}"/>
              </a:ext>
            </a:extLst>
          </p:cNvPr>
          <p:cNvSpPr txBox="1"/>
          <p:nvPr/>
        </p:nvSpPr>
        <p:spPr>
          <a:xfrm>
            <a:off x="1735148" y="4302832"/>
            <a:ext cx="1701801" cy="461665"/>
          </a:xfrm>
          <a:prstGeom prst="rect">
            <a:avLst/>
          </a:prstGeom>
          <a:noFill/>
        </p:spPr>
        <p:txBody>
          <a:bodyPr wrap="square" rtlCol="0">
            <a:spAutoFit/>
          </a:bodyPr>
          <a:lstStyle/>
          <a:p>
            <a:r>
              <a:rPr lang="fr-FR" sz="2400" b="1" dirty="0"/>
              <a:t>Complexité:</a:t>
            </a:r>
            <a:endParaRPr lang="fr-MC" sz="2400" b="1" dirty="0"/>
          </a:p>
        </p:txBody>
      </p:sp>
      <p:sp>
        <p:nvSpPr>
          <p:cNvPr id="14" name="ZoneTexte 13">
            <a:extLst>
              <a:ext uri="{FF2B5EF4-FFF2-40B4-BE49-F238E27FC236}">
                <a16:creationId xmlns:a16="http://schemas.microsoft.com/office/drawing/2014/main" id="{C1198453-D031-4E0D-9280-BA63FE87E7E5}"/>
              </a:ext>
            </a:extLst>
          </p:cNvPr>
          <p:cNvSpPr txBox="1"/>
          <p:nvPr/>
        </p:nvSpPr>
        <p:spPr>
          <a:xfrm>
            <a:off x="1773351" y="4723870"/>
            <a:ext cx="1701801" cy="369332"/>
          </a:xfrm>
          <a:prstGeom prst="rect">
            <a:avLst/>
          </a:prstGeom>
          <a:noFill/>
        </p:spPr>
        <p:txBody>
          <a:bodyPr wrap="square" rtlCol="0">
            <a:spAutoFit/>
          </a:bodyPr>
          <a:lstStyle/>
          <a:p>
            <a:r>
              <a:rPr lang="fr-FR" sz="1800" dirty="0">
                <a:effectLst/>
                <a:latin typeface="Calibri" panose="020F0502020204030204" pitchFamily="34" charset="0"/>
                <a:ea typeface="Calibri" panose="020F0502020204030204" pitchFamily="34" charset="0"/>
                <a:cs typeface="Times New Roman" panose="02020603050405020304" pitchFamily="18" charset="0"/>
              </a:rPr>
              <a:t>O((V + E) log V)</a:t>
            </a:r>
            <a:endParaRPr lang="fr-MC" sz="2400" dirty="0"/>
          </a:p>
        </p:txBody>
      </p:sp>
    </p:spTree>
    <p:extLst>
      <p:ext uri="{BB962C8B-B14F-4D97-AF65-F5344CB8AC3E}">
        <p14:creationId xmlns:p14="http://schemas.microsoft.com/office/powerpoint/2010/main" val="16334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916950" y="215058"/>
            <a:ext cx="6026823"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Algorithmiques clés</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8" name="Titre 1">
            <a:extLst>
              <a:ext uri="{FF2B5EF4-FFF2-40B4-BE49-F238E27FC236}">
                <a16:creationId xmlns:a16="http://schemas.microsoft.com/office/drawing/2014/main" id="{9D99FF72-7603-4A4E-A9D7-F24B3583E549}"/>
              </a:ext>
            </a:extLst>
          </p:cNvPr>
          <p:cNvSpPr txBox="1">
            <a:spLocks/>
          </p:cNvSpPr>
          <p:nvPr/>
        </p:nvSpPr>
        <p:spPr>
          <a:xfrm>
            <a:off x="2119321" y="972744"/>
            <a:ext cx="7700012" cy="724987"/>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400" dirty="0">
                <a:solidFill>
                  <a:srgbClr val="7030A0"/>
                </a:solidFill>
                <a:latin typeface="Poppins SemiBold" panose="00000700000000000000" pitchFamily="50" charset="0"/>
                <a:cs typeface="Poppins SemiBold" panose="00000700000000000000" pitchFamily="50" charset="0"/>
              </a:rPr>
              <a:t>Bellman-</a:t>
            </a:r>
            <a:r>
              <a:rPr lang="fr-FR" sz="2400" dirty="0" err="1">
                <a:solidFill>
                  <a:srgbClr val="7030A0"/>
                </a:solidFill>
                <a:latin typeface="Poppins SemiBold" panose="00000700000000000000" pitchFamily="50" charset="0"/>
                <a:cs typeface="Poppins SemiBold" panose="00000700000000000000" pitchFamily="50" charset="0"/>
              </a:rPr>
              <a:t>ford</a:t>
            </a:r>
            <a:r>
              <a:rPr lang="fr-FR" sz="2400" dirty="0">
                <a:solidFill>
                  <a:srgbClr val="7030A0"/>
                </a:solidFill>
                <a:latin typeface="Poppins SemiBold" panose="00000700000000000000" pitchFamily="50" charset="0"/>
                <a:cs typeface="Poppins SemiBold" panose="00000700000000000000" pitchFamily="50" charset="0"/>
              </a:rPr>
              <a:t>: </a:t>
            </a:r>
            <a:r>
              <a:rPr lang="fr-FR" sz="2400" dirty="0">
                <a:solidFill>
                  <a:srgbClr val="12A552"/>
                </a:solidFill>
                <a:latin typeface="Poppins SemiBold" panose="00000700000000000000" pitchFamily="50" charset="0"/>
                <a:cs typeface="Poppins SemiBold" panose="00000700000000000000" pitchFamily="50" charset="0"/>
              </a:rPr>
              <a:t>Chemin le plus court avec poids négatifs</a:t>
            </a:r>
            <a:endParaRPr lang="fr-MC" sz="2400" dirty="0">
              <a:solidFill>
                <a:srgbClr val="12A552"/>
              </a:solidFill>
              <a:latin typeface="Poppins SemiBold" panose="00000700000000000000" pitchFamily="50" charset="0"/>
              <a:cs typeface="Poppins SemiBold" panose="00000700000000000000" pitchFamily="50" charset="0"/>
            </a:endParaRPr>
          </a:p>
        </p:txBody>
      </p:sp>
      <p:sp>
        <p:nvSpPr>
          <p:cNvPr id="5" name="Rectangle 4">
            <a:extLst>
              <a:ext uri="{FF2B5EF4-FFF2-40B4-BE49-F238E27FC236}">
                <a16:creationId xmlns:a16="http://schemas.microsoft.com/office/drawing/2014/main" id="{226C6D41-24BD-47CC-9F18-1AF6B2F70657}"/>
              </a:ext>
            </a:extLst>
          </p:cNvPr>
          <p:cNvSpPr/>
          <p:nvPr/>
        </p:nvSpPr>
        <p:spPr>
          <a:xfrm>
            <a:off x="6775050" y="1776322"/>
            <a:ext cx="5111065" cy="4594460"/>
          </a:xfrm>
          <a:prstGeom prst="rect">
            <a:avLst/>
          </a:prstGeom>
          <a:solidFill>
            <a:srgbClr val="92288D"/>
          </a:solidFill>
          <a:ln w="3492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dirty="0"/>
          </a:p>
        </p:txBody>
      </p:sp>
      <p:sp>
        <p:nvSpPr>
          <p:cNvPr id="8" name="ZoneTexte 7">
            <a:extLst>
              <a:ext uri="{FF2B5EF4-FFF2-40B4-BE49-F238E27FC236}">
                <a16:creationId xmlns:a16="http://schemas.microsoft.com/office/drawing/2014/main" id="{2A181034-0609-4105-8453-521610C0A4D6}"/>
              </a:ext>
            </a:extLst>
          </p:cNvPr>
          <p:cNvSpPr txBox="1"/>
          <p:nvPr/>
        </p:nvSpPr>
        <p:spPr>
          <a:xfrm>
            <a:off x="6956430" y="1900422"/>
            <a:ext cx="6127970" cy="4247317"/>
          </a:xfrm>
          <a:prstGeom prst="rect">
            <a:avLst/>
          </a:prstGeom>
          <a:noFill/>
        </p:spPr>
        <p:txBody>
          <a:bodyPr wrap="square" rtlCol="0">
            <a:spAutoFit/>
          </a:bodyPr>
          <a:lstStyle/>
          <a:p>
            <a:r>
              <a:rPr lang="fr-MC" dirty="0">
                <a:solidFill>
                  <a:schemeClr val="bg1"/>
                </a:solidFill>
              </a:rPr>
              <a:t>Entrée : Graphe G(V, E), source s</a:t>
            </a:r>
          </a:p>
          <a:p>
            <a:r>
              <a:rPr lang="fr-MC" dirty="0">
                <a:solidFill>
                  <a:schemeClr val="bg1"/>
                </a:solidFill>
              </a:rPr>
              <a:t>Initialiser : distance[v] = ∞ pour tout v ∈ V</a:t>
            </a:r>
          </a:p>
          <a:p>
            <a:r>
              <a:rPr lang="fr-MC" dirty="0">
                <a:solidFill>
                  <a:schemeClr val="bg1"/>
                </a:solidFill>
              </a:rPr>
              <a:t>distance[s] = 0</a:t>
            </a:r>
          </a:p>
          <a:p>
            <a:endParaRPr lang="fr-MC" dirty="0">
              <a:solidFill>
                <a:schemeClr val="bg1"/>
              </a:solidFill>
            </a:endParaRPr>
          </a:p>
          <a:p>
            <a:r>
              <a:rPr lang="fr-MC" dirty="0">
                <a:solidFill>
                  <a:schemeClr val="bg1"/>
                </a:solidFill>
              </a:rPr>
              <a:t>Pour i = 1 à |V|-1 :</a:t>
            </a:r>
          </a:p>
          <a:p>
            <a:r>
              <a:rPr lang="fr-MC" dirty="0">
                <a:solidFill>
                  <a:schemeClr val="bg1"/>
                </a:solidFill>
              </a:rPr>
              <a:t>    Pour chaque arête (u, v) ∈ E :</a:t>
            </a:r>
          </a:p>
          <a:p>
            <a:r>
              <a:rPr lang="fr-MC" dirty="0">
                <a:solidFill>
                  <a:schemeClr val="bg1"/>
                </a:solidFill>
              </a:rPr>
              <a:t>        Si distance[u] + poids(</a:t>
            </a:r>
            <a:r>
              <a:rPr lang="fr-MC" dirty="0" err="1">
                <a:solidFill>
                  <a:schemeClr val="bg1"/>
                </a:solidFill>
              </a:rPr>
              <a:t>u,v</a:t>
            </a:r>
            <a:r>
              <a:rPr lang="fr-MC" dirty="0">
                <a:solidFill>
                  <a:schemeClr val="bg1"/>
                </a:solidFill>
              </a:rPr>
              <a:t>) &lt; distance[v] :</a:t>
            </a:r>
          </a:p>
          <a:p>
            <a:r>
              <a:rPr lang="fr-MC" dirty="0">
                <a:solidFill>
                  <a:schemeClr val="bg1"/>
                </a:solidFill>
              </a:rPr>
              <a:t>            distance[v] = distance[u] + poids(</a:t>
            </a:r>
            <a:r>
              <a:rPr lang="fr-MC" dirty="0" err="1">
                <a:solidFill>
                  <a:schemeClr val="bg1"/>
                </a:solidFill>
              </a:rPr>
              <a:t>u,v</a:t>
            </a:r>
            <a:r>
              <a:rPr lang="fr-MC" dirty="0">
                <a:solidFill>
                  <a:schemeClr val="bg1"/>
                </a:solidFill>
              </a:rPr>
              <a:t>)</a:t>
            </a:r>
          </a:p>
          <a:p>
            <a:r>
              <a:rPr lang="fr-MC" dirty="0">
                <a:solidFill>
                  <a:schemeClr val="bg1"/>
                </a:solidFill>
              </a:rPr>
              <a:t>            prédécesseur[v] = u</a:t>
            </a:r>
          </a:p>
          <a:p>
            <a:endParaRPr lang="fr-MC" dirty="0">
              <a:solidFill>
                <a:schemeClr val="bg1"/>
              </a:solidFill>
            </a:endParaRPr>
          </a:p>
          <a:p>
            <a:r>
              <a:rPr lang="fr-MC" dirty="0">
                <a:solidFill>
                  <a:schemeClr val="bg1"/>
                </a:solidFill>
              </a:rPr>
              <a:t>Pour chaque arête (u, v) ∈ E :</a:t>
            </a:r>
          </a:p>
          <a:p>
            <a:r>
              <a:rPr lang="fr-MC" dirty="0">
                <a:solidFill>
                  <a:schemeClr val="bg1"/>
                </a:solidFill>
              </a:rPr>
              <a:t>    Si distance[u] + poids(</a:t>
            </a:r>
            <a:r>
              <a:rPr lang="fr-MC" dirty="0" err="1">
                <a:solidFill>
                  <a:schemeClr val="bg1"/>
                </a:solidFill>
              </a:rPr>
              <a:t>u,v</a:t>
            </a:r>
            <a:r>
              <a:rPr lang="fr-MC" dirty="0">
                <a:solidFill>
                  <a:schemeClr val="bg1"/>
                </a:solidFill>
              </a:rPr>
              <a:t>) &lt; distance[v] :</a:t>
            </a:r>
          </a:p>
          <a:p>
            <a:r>
              <a:rPr lang="fr-MC" dirty="0">
                <a:solidFill>
                  <a:schemeClr val="bg1"/>
                </a:solidFill>
              </a:rPr>
              <a:t>        Erreur : Cycle négatif détecté</a:t>
            </a:r>
          </a:p>
          <a:p>
            <a:endParaRPr lang="fr-MC" dirty="0">
              <a:solidFill>
                <a:schemeClr val="bg1"/>
              </a:solidFill>
            </a:endParaRPr>
          </a:p>
          <a:p>
            <a:r>
              <a:rPr lang="fr-MC" dirty="0">
                <a:solidFill>
                  <a:schemeClr val="bg1"/>
                </a:solidFill>
              </a:rPr>
              <a:t>Sortie : distance[] et prédécesseur[]</a:t>
            </a:r>
          </a:p>
        </p:txBody>
      </p:sp>
      <p:sp>
        <p:nvSpPr>
          <p:cNvPr id="10" name="ZoneTexte 9">
            <a:extLst>
              <a:ext uri="{FF2B5EF4-FFF2-40B4-BE49-F238E27FC236}">
                <a16:creationId xmlns:a16="http://schemas.microsoft.com/office/drawing/2014/main" id="{2C8AE8BD-90E6-4CCA-8A0B-CCE9ECFA9501}"/>
              </a:ext>
            </a:extLst>
          </p:cNvPr>
          <p:cNvSpPr txBox="1"/>
          <p:nvPr/>
        </p:nvSpPr>
        <p:spPr>
          <a:xfrm>
            <a:off x="2414196" y="2099666"/>
            <a:ext cx="1406796" cy="461665"/>
          </a:xfrm>
          <a:prstGeom prst="rect">
            <a:avLst/>
          </a:prstGeom>
          <a:noFill/>
        </p:spPr>
        <p:txBody>
          <a:bodyPr wrap="square" rtlCol="0">
            <a:spAutoFit/>
          </a:bodyPr>
          <a:lstStyle/>
          <a:p>
            <a:r>
              <a:rPr lang="fr-FR" sz="2400" b="1" dirty="0"/>
              <a:t>Objectifs:</a:t>
            </a:r>
            <a:endParaRPr lang="fr-MC" sz="2400" b="1" dirty="0"/>
          </a:p>
        </p:txBody>
      </p:sp>
      <p:sp>
        <p:nvSpPr>
          <p:cNvPr id="11" name="ZoneTexte 10">
            <a:extLst>
              <a:ext uri="{FF2B5EF4-FFF2-40B4-BE49-F238E27FC236}">
                <a16:creationId xmlns:a16="http://schemas.microsoft.com/office/drawing/2014/main" id="{3A2AFA09-7A3E-4ACF-B5FE-968C1C00B76C}"/>
              </a:ext>
            </a:extLst>
          </p:cNvPr>
          <p:cNvSpPr txBox="1"/>
          <p:nvPr/>
        </p:nvSpPr>
        <p:spPr>
          <a:xfrm>
            <a:off x="1431703" y="2632928"/>
            <a:ext cx="4664297" cy="1200329"/>
          </a:xfrm>
          <a:prstGeom prst="rect">
            <a:avLst/>
          </a:prstGeom>
          <a:noFill/>
        </p:spPr>
        <p:txBody>
          <a:bodyPr wrap="square" rtlCol="0">
            <a:spAutoFit/>
          </a:bodyPr>
          <a:lstStyle/>
          <a:p>
            <a:r>
              <a:rPr lang="fr-MC" sz="2400" dirty="0"/>
              <a:t>Calculer le </a:t>
            </a:r>
            <a:r>
              <a:rPr lang="fr-MC" sz="2400" b="1" dirty="0"/>
              <a:t>chemin le plus court</a:t>
            </a:r>
            <a:r>
              <a:rPr lang="fr-MC" sz="2400" dirty="0"/>
              <a:t> même si le graphe contient des </a:t>
            </a:r>
            <a:r>
              <a:rPr lang="fr-MC" sz="2400" b="1" dirty="0"/>
              <a:t>poids négatifs</a:t>
            </a:r>
            <a:r>
              <a:rPr lang="fr-MC" sz="2400" dirty="0"/>
              <a:t>.</a:t>
            </a:r>
          </a:p>
        </p:txBody>
      </p:sp>
      <p:sp>
        <p:nvSpPr>
          <p:cNvPr id="78" name="ZoneTexte 77">
            <a:extLst>
              <a:ext uri="{FF2B5EF4-FFF2-40B4-BE49-F238E27FC236}">
                <a16:creationId xmlns:a16="http://schemas.microsoft.com/office/drawing/2014/main" id="{A7231FD3-794F-4771-A9E5-5D3A9BC4B79B}"/>
              </a:ext>
            </a:extLst>
          </p:cNvPr>
          <p:cNvSpPr txBox="1"/>
          <p:nvPr/>
        </p:nvSpPr>
        <p:spPr>
          <a:xfrm>
            <a:off x="2414196" y="4300047"/>
            <a:ext cx="1701801" cy="461665"/>
          </a:xfrm>
          <a:prstGeom prst="rect">
            <a:avLst/>
          </a:prstGeom>
          <a:noFill/>
        </p:spPr>
        <p:txBody>
          <a:bodyPr wrap="square" rtlCol="0">
            <a:spAutoFit/>
          </a:bodyPr>
          <a:lstStyle/>
          <a:p>
            <a:r>
              <a:rPr lang="fr-FR" sz="2400" b="1" dirty="0"/>
              <a:t>Complexité:</a:t>
            </a:r>
            <a:endParaRPr lang="fr-MC" sz="2400" b="1" dirty="0"/>
          </a:p>
        </p:txBody>
      </p:sp>
      <p:sp>
        <p:nvSpPr>
          <p:cNvPr id="14" name="ZoneTexte 13">
            <a:extLst>
              <a:ext uri="{FF2B5EF4-FFF2-40B4-BE49-F238E27FC236}">
                <a16:creationId xmlns:a16="http://schemas.microsoft.com/office/drawing/2014/main" id="{C1198453-D031-4E0D-9280-BA63FE87E7E5}"/>
              </a:ext>
            </a:extLst>
          </p:cNvPr>
          <p:cNvSpPr txBox="1"/>
          <p:nvPr/>
        </p:nvSpPr>
        <p:spPr>
          <a:xfrm>
            <a:off x="2762619" y="4766837"/>
            <a:ext cx="964555" cy="369332"/>
          </a:xfrm>
          <a:prstGeom prst="rect">
            <a:avLst/>
          </a:prstGeom>
          <a:noFill/>
        </p:spPr>
        <p:txBody>
          <a:bodyPr wrap="square" rtlCol="0">
            <a:spAutoFit/>
          </a:bodyPr>
          <a:lstStyle/>
          <a:p>
            <a:r>
              <a:rPr lang="fr-FR" sz="1800" dirty="0">
                <a:effectLst/>
                <a:latin typeface="Calibri" panose="020F0502020204030204" pitchFamily="34" charset="0"/>
                <a:ea typeface="Calibri" panose="020F0502020204030204" pitchFamily="34" charset="0"/>
                <a:cs typeface="Times New Roman" panose="02020603050405020304" pitchFamily="18" charset="0"/>
              </a:rPr>
              <a:t>O(V × E)</a:t>
            </a:r>
            <a:endParaRPr lang="fr-MC" sz="2400" dirty="0"/>
          </a:p>
        </p:txBody>
      </p:sp>
    </p:spTree>
    <p:extLst>
      <p:ext uri="{BB962C8B-B14F-4D97-AF65-F5344CB8AC3E}">
        <p14:creationId xmlns:p14="http://schemas.microsoft.com/office/powerpoint/2010/main" val="383628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916950" y="215058"/>
            <a:ext cx="6026823"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Algorithmiques clés</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68" name="Titre 1">
            <a:extLst>
              <a:ext uri="{FF2B5EF4-FFF2-40B4-BE49-F238E27FC236}">
                <a16:creationId xmlns:a16="http://schemas.microsoft.com/office/drawing/2014/main" id="{9D99FF72-7603-4A4E-A9D7-F24B3583E549}"/>
              </a:ext>
            </a:extLst>
          </p:cNvPr>
          <p:cNvSpPr txBox="1">
            <a:spLocks/>
          </p:cNvSpPr>
          <p:nvPr/>
        </p:nvSpPr>
        <p:spPr>
          <a:xfrm>
            <a:off x="4201066" y="659452"/>
            <a:ext cx="4107859" cy="72498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400" dirty="0">
                <a:solidFill>
                  <a:srgbClr val="12A552"/>
                </a:solidFill>
                <a:latin typeface="Poppins SemiBold" panose="00000700000000000000" pitchFamily="50" charset="0"/>
                <a:cs typeface="Poppins SemiBold" panose="00000700000000000000" pitchFamily="50" charset="0"/>
              </a:rPr>
              <a:t>DFS/BFS</a:t>
            </a:r>
            <a:endParaRPr lang="fr-MC" sz="2400" dirty="0">
              <a:solidFill>
                <a:srgbClr val="12A552"/>
              </a:solidFill>
              <a:latin typeface="Poppins SemiBold" panose="00000700000000000000" pitchFamily="50" charset="0"/>
              <a:cs typeface="Poppins SemiBold" panose="00000700000000000000" pitchFamily="50" charset="0"/>
            </a:endParaRPr>
          </a:p>
        </p:txBody>
      </p:sp>
      <p:sp>
        <p:nvSpPr>
          <p:cNvPr id="5" name="Rectangle 4">
            <a:extLst>
              <a:ext uri="{FF2B5EF4-FFF2-40B4-BE49-F238E27FC236}">
                <a16:creationId xmlns:a16="http://schemas.microsoft.com/office/drawing/2014/main" id="{226C6D41-24BD-47CC-9F18-1AF6B2F70657}"/>
              </a:ext>
            </a:extLst>
          </p:cNvPr>
          <p:cNvSpPr/>
          <p:nvPr/>
        </p:nvSpPr>
        <p:spPr>
          <a:xfrm>
            <a:off x="6775050" y="1776322"/>
            <a:ext cx="5111065" cy="4594460"/>
          </a:xfrm>
          <a:prstGeom prst="rect">
            <a:avLst/>
          </a:prstGeom>
          <a:solidFill>
            <a:srgbClr val="92288D"/>
          </a:solidFill>
          <a:ln w="3492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dirty="0"/>
          </a:p>
        </p:txBody>
      </p:sp>
      <p:sp>
        <p:nvSpPr>
          <p:cNvPr id="8" name="ZoneTexte 7">
            <a:extLst>
              <a:ext uri="{FF2B5EF4-FFF2-40B4-BE49-F238E27FC236}">
                <a16:creationId xmlns:a16="http://schemas.microsoft.com/office/drawing/2014/main" id="{2A181034-0609-4105-8453-521610C0A4D6}"/>
              </a:ext>
            </a:extLst>
          </p:cNvPr>
          <p:cNvSpPr txBox="1"/>
          <p:nvPr/>
        </p:nvSpPr>
        <p:spPr>
          <a:xfrm>
            <a:off x="6956430" y="1900422"/>
            <a:ext cx="6127970" cy="4247317"/>
          </a:xfrm>
          <a:prstGeom prst="rect">
            <a:avLst/>
          </a:prstGeom>
          <a:noFill/>
        </p:spPr>
        <p:txBody>
          <a:bodyPr wrap="square" rtlCol="0">
            <a:spAutoFit/>
          </a:bodyPr>
          <a:lstStyle/>
          <a:p>
            <a:r>
              <a:rPr lang="fr-MC" dirty="0">
                <a:solidFill>
                  <a:schemeClr val="bg1"/>
                </a:solidFill>
              </a:rPr>
              <a:t>Entrée : Graphe G(V, E), source s</a:t>
            </a:r>
          </a:p>
          <a:p>
            <a:r>
              <a:rPr lang="fr-MC" dirty="0">
                <a:solidFill>
                  <a:schemeClr val="bg1"/>
                </a:solidFill>
              </a:rPr>
              <a:t>Initialiser : distance[v] = ∞ pour tout v ∈ V</a:t>
            </a:r>
          </a:p>
          <a:p>
            <a:r>
              <a:rPr lang="fr-MC" dirty="0">
                <a:solidFill>
                  <a:schemeClr val="bg1"/>
                </a:solidFill>
              </a:rPr>
              <a:t>distance[s] = 0</a:t>
            </a:r>
          </a:p>
          <a:p>
            <a:endParaRPr lang="fr-MC" dirty="0">
              <a:solidFill>
                <a:schemeClr val="bg1"/>
              </a:solidFill>
            </a:endParaRPr>
          </a:p>
          <a:p>
            <a:r>
              <a:rPr lang="fr-MC" dirty="0">
                <a:solidFill>
                  <a:schemeClr val="bg1"/>
                </a:solidFill>
              </a:rPr>
              <a:t>Pour i = 1 à |V|-1 :</a:t>
            </a:r>
          </a:p>
          <a:p>
            <a:r>
              <a:rPr lang="fr-MC" dirty="0">
                <a:solidFill>
                  <a:schemeClr val="bg1"/>
                </a:solidFill>
              </a:rPr>
              <a:t>    Pour chaque arête (u, v) ∈ E :</a:t>
            </a:r>
          </a:p>
          <a:p>
            <a:r>
              <a:rPr lang="fr-MC" dirty="0">
                <a:solidFill>
                  <a:schemeClr val="bg1"/>
                </a:solidFill>
              </a:rPr>
              <a:t>        Si distance[u] + poids(</a:t>
            </a:r>
            <a:r>
              <a:rPr lang="fr-MC" dirty="0" err="1">
                <a:solidFill>
                  <a:schemeClr val="bg1"/>
                </a:solidFill>
              </a:rPr>
              <a:t>u,v</a:t>
            </a:r>
            <a:r>
              <a:rPr lang="fr-MC" dirty="0">
                <a:solidFill>
                  <a:schemeClr val="bg1"/>
                </a:solidFill>
              </a:rPr>
              <a:t>) &lt; distance[v] :</a:t>
            </a:r>
          </a:p>
          <a:p>
            <a:r>
              <a:rPr lang="fr-MC" dirty="0">
                <a:solidFill>
                  <a:schemeClr val="bg1"/>
                </a:solidFill>
              </a:rPr>
              <a:t>            distance[v] = distance[u] + poids(</a:t>
            </a:r>
            <a:r>
              <a:rPr lang="fr-MC" dirty="0" err="1">
                <a:solidFill>
                  <a:schemeClr val="bg1"/>
                </a:solidFill>
              </a:rPr>
              <a:t>u,v</a:t>
            </a:r>
            <a:r>
              <a:rPr lang="fr-MC" dirty="0">
                <a:solidFill>
                  <a:schemeClr val="bg1"/>
                </a:solidFill>
              </a:rPr>
              <a:t>)</a:t>
            </a:r>
          </a:p>
          <a:p>
            <a:r>
              <a:rPr lang="fr-MC" dirty="0">
                <a:solidFill>
                  <a:schemeClr val="bg1"/>
                </a:solidFill>
              </a:rPr>
              <a:t>            prédécesseur[v] = u</a:t>
            </a:r>
          </a:p>
          <a:p>
            <a:endParaRPr lang="fr-MC" dirty="0">
              <a:solidFill>
                <a:schemeClr val="bg1"/>
              </a:solidFill>
            </a:endParaRPr>
          </a:p>
          <a:p>
            <a:r>
              <a:rPr lang="fr-MC" dirty="0">
                <a:solidFill>
                  <a:schemeClr val="bg1"/>
                </a:solidFill>
              </a:rPr>
              <a:t>Pour chaque arête (u, v) ∈ E :</a:t>
            </a:r>
          </a:p>
          <a:p>
            <a:r>
              <a:rPr lang="fr-MC" dirty="0">
                <a:solidFill>
                  <a:schemeClr val="bg1"/>
                </a:solidFill>
              </a:rPr>
              <a:t>    Si distance[u] + poids(</a:t>
            </a:r>
            <a:r>
              <a:rPr lang="fr-MC" dirty="0" err="1">
                <a:solidFill>
                  <a:schemeClr val="bg1"/>
                </a:solidFill>
              </a:rPr>
              <a:t>u,v</a:t>
            </a:r>
            <a:r>
              <a:rPr lang="fr-MC" dirty="0">
                <a:solidFill>
                  <a:schemeClr val="bg1"/>
                </a:solidFill>
              </a:rPr>
              <a:t>) &lt; distance[v] :</a:t>
            </a:r>
          </a:p>
          <a:p>
            <a:r>
              <a:rPr lang="fr-MC" dirty="0">
                <a:solidFill>
                  <a:schemeClr val="bg1"/>
                </a:solidFill>
              </a:rPr>
              <a:t>        Erreur : Cycle négatif détecté</a:t>
            </a:r>
          </a:p>
          <a:p>
            <a:endParaRPr lang="fr-MC" dirty="0">
              <a:solidFill>
                <a:schemeClr val="bg1"/>
              </a:solidFill>
            </a:endParaRPr>
          </a:p>
          <a:p>
            <a:r>
              <a:rPr lang="fr-MC" dirty="0">
                <a:solidFill>
                  <a:schemeClr val="bg1"/>
                </a:solidFill>
              </a:rPr>
              <a:t>Sortie : distance[] et prédécesseur[]</a:t>
            </a:r>
          </a:p>
        </p:txBody>
      </p:sp>
      <p:sp>
        <p:nvSpPr>
          <p:cNvPr id="10" name="ZoneTexte 9">
            <a:extLst>
              <a:ext uri="{FF2B5EF4-FFF2-40B4-BE49-F238E27FC236}">
                <a16:creationId xmlns:a16="http://schemas.microsoft.com/office/drawing/2014/main" id="{2C8AE8BD-90E6-4CCA-8A0B-CCE9ECFA9501}"/>
              </a:ext>
            </a:extLst>
          </p:cNvPr>
          <p:cNvSpPr txBox="1"/>
          <p:nvPr/>
        </p:nvSpPr>
        <p:spPr>
          <a:xfrm>
            <a:off x="2414196" y="2099666"/>
            <a:ext cx="1406796" cy="461665"/>
          </a:xfrm>
          <a:prstGeom prst="rect">
            <a:avLst/>
          </a:prstGeom>
          <a:noFill/>
        </p:spPr>
        <p:txBody>
          <a:bodyPr wrap="square" rtlCol="0">
            <a:spAutoFit/>
          </a:bodyPr>
          <a:lstStyle/>
          <a:p>
            <a:r>
              <a:rPr lang="fr-FR" sz="2400" b="1" dirty="0"/>
              <a:t>Objectifs:</a:t>
            </a:r>
            <a:endParaRPr lang="fr-MC" sz="2400" b="1" dirty="0"/>
          </a:p>
        </p:txBody>
      </p:sp>
      <p:sp>
        <p:nvSpPr>
          <p:cNvPr id="11" name="ZoneTexte 10">
            <a:extLst>
              <a:ext uri="{FF2B5EF4-FFF2-40B4-BE49-F238E27FC236}">
                <a16:creationId xmlns:a16="http://schemas.microsoft.com/office/drawing/2014/main" id="{3A2AFA09-7A3E-4ACF-B5FE-968C1C00B76C}"/>
              </a:ext>
            </a:extLst>
          </p:cNvPr>
          <p:cNvSpPr txBox="1"/>
          <p:nvPr/>
        </p:nvSpPr>
        <p:spPr>
          <a:xfrm>
            <a:off x="1431703" y="2632928"/>
            <a:ext cx="4664297" cy="1200329"/>
          </a:xfrm>
          <a:prstGeom prst="rect">
            <a:avLst/>
          </a:prstGeom>
          <a:noFill/>
        </p:spPr>
        <p:txBody>
          <a:bodyPr wrap="square" rtlCol="0">
            <a:spAutoFit/>
          </a:bodyPr>
          <a:lstStyle/>
          <a:p>
            <a:r>
              <a:rPr lang="fr-MC" sz="2400" dirty="0"/>
              <a:t>Trouver les </a:t>
            </a:r>
            <a:r>
              <a:rPr lang="fr-MC" sz="2400" b="1" dirty="0"/>
              <a:t>K chemins les plus courts</a:t>
            </a:r>
            <a:r>
              <a:rPr lang="fr-MC" sz="2400" dirty="0"/>
              <a:t> entre un nœud source et une destination.</a:t>
            </a:r>
          </a:p>
        </p:txBody>
      </p:sp>
      <p:sp>
        <p:nvSpPr>
          <p:cNvPr id="78" name="ZoneTexte 77">
            <a:extLst>
              <a:ext uri="{FF2B5EF4-FFF2-40B4-BE49-F238E27FC236}">
                <a16:creationId xmlns:a16="http://schemas.microsoft.com/office/drawing/2014/main" id="{A7231FD3-794F-4771-A9E5-5D3A9BC4B79B}"/>
              </a:ext>
            </a:extLst>
          </p:cNvPr>
          <p:cNvSpPr txBox="1"/>
          <p:nvPr/>
        </p:nvSpPr>
        <p:spPr>
          <a:xfrm>
            <a:off x="2414196" y="4300047"/>
            <a:ext cx="1701801" cy="461665"/>
          </a:xfrm>
          <a:prstGeom prst="rect">
            <a:avLst/>
          </a:prstGeom>
          <a:noFill/>
        </p:spPr>
        <p:txBody>
          <a:bodyPr wrap="square" rtlCol="0">
            <a:spAutoFit/>
          </a:bodyPr>
          <a:lstStyle/>
          <a:p>
            <a:r>
              <a:rPr lang="fr-FR" sz="2400" b="1" dirty="0"/>
              <a:t>Complexité:</a:t>
            </a:r>
            <a:endParaRPr lang="fr-MC" sz="2400" b="1" dirty="0"/>
          </a:p>
        </p:txBody>
      </p:sp>
      <p:sp>
        <p:nvSpPr>
          <p:cNvPr id="47" name="ZoneTexte 46">
            <a:extLst>
              <a:ext uri="{FF2B5EF4-FFF2-40B4-BE49-F238E27FC236}">
                <a16:creationId xmlns:a16="http://schemas.microsoft.com/office/drawing/2014/main" id="{BC89CFA3-33DB-40A9-A12F-588C7CB95163}"/>
              </a:ext>
            </a:extLst>
          </p:cNvPr>
          <p:cNvSpPr txBox="1"/>
          <p:nvPr/>
        </p:nvSpPr>
        <p:spPr>
          <a:xfrm>
            <a:off x="2762619" y="4766837"/>
            <a:ext cx="964555" cy="369332"/>
          </a:xfrm>
          <a:prstGeom prst="rect">
            <a:avLst/>
          </a:prstGeom>
          <a:noFill/>
        </p:spPr>
        <p:txBody>
          <a:bodyPr wrap="square" rtlCol="0">
            <a:spAutoFit/>
          </a:bodyPr>
          <a:lstStyle/>
          <a:p>
            <a:r>
              <a:rPr lang="fr-FR" sz="1800" dirty="0">
                <a:effectLst/>
                <a:latin typeface="Calibri" panose="020F0502020204030204" pitchFamily="34" charset="0"/>
                <a:ea typeface="Calibri" panose="020F0502020204030204" pitchFamily="34" charset="0"/>
                <a:cs typeface="Times New Roman" panose="02020603050405020304" pitchFamily="18" charset="0"/>
              </a:rPr>
              <a:t>O(V + E)</a:t>
            </a:r>
            <a:endParaRPr lang="fr-MC" sz="2400" dirty="0"/>
          </a:p>
        </p:txBody>
      </p:sp>
    </p:spTree>
    <p:extLst>
      <p:ext uri="{BB962C8B-B14F-4D97-AF65-F5344CB8AC3E}">
        <p14:creationId xmlns:p14="http://schemas.microsoft.com/office/powerpoint/2010/main" val="422709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01652834-3249-4E5F-AA08-5EC1BCA419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4" y="0"/>
            <a:ext cx="12217344" cy="6858000"/>
          </a:xfrm>
          <a:prstGeom prst="rect">
            <a:avLst/>
          </a:prstGeom>
        </p:spPr>
      </p:pic>
      <p:sp>
        <p:nvSpPr>
          <p:cNvPr id="48" name="Rectangle 47">
            <a:extLst>
              <a:ext uri="{FF2B5EF4-FFF2-40B4-BE49-F238E27FC236}">
                <a16:creationId xmlns:a16="http://schemas.microsoft.com/office/drawing/2014/main" id="{D330DC14-E787-477B-B26E-4EF4C169D6BC}"/>
              </a:ext>
            </a:extLst>
          </p:cNvPr>
          <p:cNvSpPr/>
          <p:nvPr/>
        </p:nvSpPr>
        <p:spPr>
          <a:xfrm>
            <a:off x="-25344" y="0"/>
            <a:ext cx="12236982" cy="6858000"/>
          </a:xfrm>
          <a:prstGeom prst="rect">
            <a:avLst/>
          </a:prstGeom>
          <a:solidFill>
            <a:schemeClr val="bg1">
              <a:alpha val="9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818479" y="123878"/>
            <a:ext cx="6555041" cy="724987"/>
          </a:xfrm>
        </p:spPr>
        <p:txBody>
          <a:bodyPr>
            <a:normAutofit fontScale="90000"/>
          </a:bodyPr>
          <a:lstStyle/>
          <a:p>
            <a:r>
              <a:rPr lang="fr-FR" sz="4000" dirty="0">
                <a:solidFill>
                  <a:srgbClr val="7030A0"/>
                </a:solidFill>
                <a:latin typeface="Poppins SemiBold" panose="00000700000000000000" pitchFamily="50" charset="0"/>
                <a:cs typeface="Poppins SemiBold" panose="00000700000000000000" pitchFamily="50" charset="0"/>
              </a:rPr>
              <a:t>Analyses de la complexité</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graphicFrame>
        <p:nvGraphicFramePr>
          <p:cNvPr id="3" name="Tableau 3">
            <a:extLst>
              <a:ext uri="{FF2B5EF4-FFF2-40B4-BE49-F238E27FC236}">
                <a16:creationId xmlns:a16="http://schemas.microsoft.com/office/drawing/2014/main" id="{56435185-040B-46B4-A524-FAC3D1FD9360}"/>
              </a:ext>
            </a:extLst>
          </p:cNvPr>
          <p:cNvGraphicFramePr>
            <a:graphicFrameLocks noGrp="1"/>
          </p:cNvGraphicFramePr>
          <p:nvPr>
            <p:extLst>
              <p:ext uri="{D42A27DB-BD31-4B8C-83A1-F6EECF244321}">
                <p14:modId xmlns:p14="http://schemas.microsoft.com/office/powerpoint/2010/main" val="1955867702"/>
              </p:ext>
            </p:extLst>
          </p:nvPr>
        </p:nvGraphicFramePr>
        <p:xfrm>
          <a:off x="6536258" y="2263257"/>
          <a:ext cx="5097636" cy="2382700"/>
        </p:xfrm>
        <a:graphic>
          <a:graphicData uri="http://schemas.openxmlformats.org/drawingml/2006/table">
            <a:tbl>
              <a:tblPr firstRow="1" bandRow="1">
                <a:tableStyleId>{5C22544A-7EE6-4342-B048-85BDC9FD1C3A}</a:tableStyleId>
              </a:tblPr>
              <a:tblGrid>
                <a:gridCol w="1812612">
                  <a:extLst>
                    <a:ext uri="{9D8B030D-6E8A-4147-A177-3AD203B41FA5}">
                      <a16:colId xmlns:a16="http://schemas.microsoft.com/office/drawing/2014/main" val="1859324661"/>
                    </a:ext>
                  </a:extLst>
                </a:gridCol>
                <a:gridCol w="1585812">
                  <a:extLst>
                    <a:ext uri="{9D8B030D-6E8A-4147-A177-3AD203B41FA5}">
                      <a16:colId xmlns:a16="http://schemas.microsoft.com/office/drawing/2014/main" val="1402074523"/>
                    </a:ext>
                  </a:extLst>
                </a:gridCol>
                <a:gridCol w="1699212">
                  <a:extLst>
                    <a:ext uri="{9D8B030D-6E8A-4147-A177-3AD203B41FA5}">
                      <a16:colId xmlns:a16="http://schemas.microsoft.com/office/drawing/2014/main" val="1654963726"/>
                    </a:ext>
                  </a:extLst>
                </a:gridCol>
              </a:tblGrid>
              <a:tr h="476540">
                <a:tc>
                  <a:txBody>
                    <a:bodyPr/>
                    <a:lstStyle/>
                    <a:p>
                      <a:pPr algn="l"/>
                      <a:r>
                        <a:rPr lang="fr-FR" u="sng" dirty="0">
                          <a:solidFill>
                            <a:schemeClr val="bg1"/>
                          </a:solidFill>
                        </a:rPr>
                        <a:t>Algorithme</a:t>
                      </a:r>
                      <a:endParaRPr lang="fr-MC" u="sng" dirty="0">
                        <a:solidFill>
                          <a:schemeClr val="bg1"/>
                        </a:solidFill>
                      </a:endParaRPr>
                    </a:p>
                  </a:txBody>
                  <a:tcPr>
                    <a:solidFill>
                      <a:srgbClr val="92288D"/>
                    </a:solidFill>
                  </a:tcPr>
                </a:tc>
                <a:tc>
                  <a:txBody>
                    <a:bodyPr/>
                    <a:lstStyle/>
                    <a:p>
                      <a:r>
                        <a:rPr lang="fr-FR" u="sng" dirty="0"/>
                        <a:t>Temps</a:t>
                      </a:r>
                      <a:endParaRPr lang="fr-MC" u="sng" dirty="0"/>
                    </a:p>
                  </a:txBody>
                  <a:tcPr>
                    <a:solidFill>
                      <a:srgbClr val="92288D"/>
                    </a:solidFill>
                  </a:tcPr>
                </a:tc>
                <a:tc>
                  <a:txBody>
                    <a:bodyPr/>
                    <a:lstStyle/>
                    <a:p>
                      <a:r>
                        <a:rPr lang="fr-FR" u="sng" dirty="0" err="1"/>
                        <a:t>Mémore</a:t>
                      </a:r>
                      <a:endParaRPr lang="fr-MC" u="sng" dirty="0"/>
                    </a:p>
                  </a:txBody>
                  <a:tcPr>
                    <a:solidFill>
                      <a:srgbClr val="92288D"/>
                    </a:solidFill>
                  </a:tcPr>
                </a:tc>
                <a:extLst>
                  <a:ext uri="{0D108BD9-81ED-4DB2-BD59-A6C34878D82A}">
                    <a16:rowId xmlns:a16="http://schemas.microsoft.com/office/drawing/2014/main" val="3751597276"/>
                  </a:ext>
                </a:extLst>
              </a:tr>
              <a:tr h="476540">
                <a:tc>
                  <a:txBody>
                    <a:bodyPr/>
                    <a:lstStyle/>
                    <a:p>
                      <a:pPr algn="l"/>
                      <a:r>
                        <a:rPr lang="fr-MC" dirty="0">
                          <a:solidFill>
                            <a:schemeClr val="bg1"/>
                          </a:solidFill>
                        </a:rPr>
                        <a:t>Dijkstra</a:t>
                      </a:r>
                    </a:p>
                  </a:txBody>
                  <a:tcPr>
                    <a:solidFill>
                      <a:srgbClr val="12A552"/>
                    </a:solidFill>
                  </a:tcPr>
                </a:tc>
                <a:tc>
                  <a:txBody>
                    <a:bodyPr/>
                    <a:lstStyle/>
                    <a:p>
                      <a:r>
                        <a:rPr lang="pt-BR" sz="1600" dirty="0">
                          <a:solidFill>
                            <a:schemeClr val="bg1"/>
                          </a:solidFill>
                        </a:rPr>
                        <a:t>O((V + E) log V)</a:t>
                      </a:r>
                      <a:endParaRPr lang="fr-MC" sz="1600" dirty="0">
                        <a:solidFill>
                          <a:schemeClr val="bg1"/>
                        </a:solidFill>
                      </a:endParaRPr>
                    </a:p>
                  </a:txBody>
                  <a:tcPr>
                    <a:solidFill>
                      <a:srgbClr val="12A552"/>
                    </a:solidFill>
                  </a:tcPr>
                </a:tc>
                <a:tc>
                  <a:txBody>
                    <a:bodyPr/>
                    <a:lstStyle/>
                    <a:p>
                      <a:r>
                        <a:rPr lang="fr-MC" dirty="0">
                          <a:solidFill>
                            <a:schemeClr val="bg1"/>
                          </a:solidFill>
                        </a:rPr>
                        <a:t>O(V)</a:t>
                      </a:r>
                    </a:p>
                  </a:txBody>
                  <a:tcPr>
                    <a:solidFill>
                      <a:srgbClr val="12A552"/>
                    </a:solidFill>
                  </a:tcPr>
                </a:tc>
                <a:extLst>
                  <a:ext uri="{0D108BD9-81ED-4DB2-BD59-A6C34878D82A}">
                    <a16:rowId xmlns:a16="http://schemas.microsoft.com/office/drawing/2014/main" val="4279320610"/>
                  </a:ext>
                </a:extLst>
              </a:tr>
              <a:tr h="476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Bellman-Ford</a:t>
                      </a:r>
                    </a:p>
                  </a:txBody>
                  <a:tcPr>
                    <a:solidFill>
                      <a:srgbClr val="12A552"/>
                    </a:solidFill>
                  </a:tcPr>
                </a:tc>
                <a:tc>
                  <a:txBody>
                    <a:bodyPr/>
                    <a:lstStyle/>
                    <a:p>
                      <a:r>
                        <a:rPr lang="fr-MC" dirty="0">
                          <a:solidFill>
                            <a:schemeClr val="bg1"/>
                          </a:solidFill>
                        </a:rPr>
                        <a:t>O(V × E)</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O(V)</a:t>
                      </a:r>
                    </a:p>
                  </a:txBody>
                  <a:tcPr>
                    <a:solidFill>
                      <a:srgbClr val="12A552"/>
                    </a:solidFill>
                  </a:tcPr>
                </a:tc>
                <a:extLst>
                  <a:ext uri="{0D108BD9-81ED-4DB2-BD59-A6C34878D82A}">
                    <a16:rowId xmlns:a16="http://schemas.microsoft.com/office/drawing/2014/main" val="216051301"/>
                  </a:ext>
                </a:extLst>
              </a:tr>
              <a:tr h="476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BFS / DFS</a:t>
                      </a:r>
                    </a:p>
                  </a:txBody>
                  <a:tcPr>
                    <a:solidFill>
                      <a:srgbClr val="12A552"/>
                    </a:solidFill>
                  </a:tcPr>
                </a:tc>
                <a:tc>
                  <a:txBody>
                    <a:bodyPr/>
                    <a:lstStyle/>
                    <a:p>
                      <a:r>
                        <a:rPr lang="fr-MC" dirty="0">
                          <a:solidFill>
                            <a:schemeClr val="bg1"/>
                          </a:solidFill>
                        </a:rPr>
                        <a:t>O(V + E)</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O(V)</a:t>
                      </a:r>
                    </a:p>
                  </a:txBody>
                  <a:tcPr>
                    <a:solidFill>
                      <a:srgbClr val="12A552"/>
                    </a:solidFill>
                  </a:tcPr>
                </a:tc>
                <a:extLst>
                  <a:ext uri="{0D108BD9-81ED-4DB2-BD59-A6C34878D82A}">
                    <a16:rowId xmlns:a16="http://schemas.microsoft.com/office/drawing/2014/main" val="4070337059"/>
                  </a:ext>
                </a:extLst>
              </a:tr>
              <a:tr h="476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Backtracking</a:t>
                      </a:r>
                    </a:p>
                  </a:txBody>
                  <a:tcPr>
                    <a:solidFill>
                      <a:srgbClr val="12A552"/>
                    </a:solidFill>
                  </a:tcPr>
                </a:tc>
                <a:tc>
                  <a:txBody>
                    <a:bodyPr/>
                    <a:lstStyle/>
                    <a:p>
                      <a:r>
                        <a:rPr lang="fr-MC" dirty="0">
                          <a:solidFill>
                            <a:schemeClr val="bg1"/>
                          </a:solidFill>
                        </a:rPr>
                        <a:t>O(bᵈ</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O(d)</a:t>
                      </a:r>
                    </a:p>
                  </a:txBody>
                  <a:tcPr>
                    <a:solidFill>
                      <a:srgbClr val="12A552"/>
                    </a:solidFill>
                  </a:tcPr>
                </a:tc>
                <a:extLst>
                  <a:ext uri="{0D108BD9-81ED-4DB2-BD59-A6C34878D82A}">
                    <a16:rowId xmlns:a16="http://schemas.microsoft.com/office/drawing/2014/main" val="3084412350"/>
                  </a:ext>
                </a:extLst>
              </a:tr>
            </a:tbl>
          </a:graphicData>
        </a:graphic>
      </p:graphicFrame>
      <p:sp>
        <p:nvSpPr>
          <p:cNvPr id="4" name="ZoneTexte 3">
            <a:extLst>
              <a:ext uri="{FF2B5EF4-FFF2-40B4-BE49-F238E27FC236}">
                <a16:creationId xmlns:a16="http://schemas.microsoft.com/office/drawing/2014/main" id="{E395EA8B-4043-4CB8-A5F2-BE5245BFD33B}"/>
              </a:ext>
            </a:extLst>
          </p:cNvPr>
          <p:cNvSpPr txBox="1"/>
          <p:nvPr/>
        </p:nvSpPr>
        <p:spPr>
          <a:xfrm>
            <a:off x="6448600" y="4873035"/>
            <a:ext cx="2812774" cy="1477328"/>
          </a:xfrm>
          <a:prstGeom prst="rect">
            <a:avLst/>
          </a:prstGeom>
          <a:noFill/>
        </p:spPr>
        <p:txBody>
          <a:bodyPr wrap="square" rtlCol="0">
            <a:spAutoFit/>
          </a:bodyPr>
          <a:lstStyle/>
          <a:p>
            <a:r>
              <a:rPr lang="fr-MC" dirty="0"/>
              <a:t>Avec</a:t>
            </a:r>
          </a:p>
          <a:p>
            <a:pPr>
              <a:buFont typeface="Arial" panose="020B0604020202020204" pitchFamily="34" charset="0"/>
              <a:buChar char="•"/>
            </a:pPr>
            <a:r>
              <a:rPr lang="fr-MC" dirty="0"/>
              <a:t>V : sommets,</a:t>
            </a:r>
          </a:p>
          <a:p>
            <a:pPr>
              <a:buFont typeface="Arial" panose="020B0604020202020204" pitchFamily="34" charset="0"/>
              <a:buChar char="•"/>
            </a:pPr>
            <a:r>
              <a:rPr lang="fr-MC" dirty="0"/>
              <a:t> E : arêtes</a:t>
            </a:r>
          </a:p>
          <a:p>
            <a:pPr>
              <a:buFont typeface="Arial" panose="020B0604020202020204" pitchFamily="34" charset="0"/>
              <a:buChar char="•"/>
            </a:pPr>
            <a:r>
              <a:rPr lang="fr-MC" dirty="0"/>
              <a:t>b : degré moyen, </a:t>
            </a:r>
          </a:p>
          <a:p>
            <a:pPr>
              <a:buFont typeface="Arial" panose="020B0604020202020204" pitchFamily="34" charset="0"/>
              <a:buChar char="•"/>
            </a:pPr>
            <a:r>
              <a:rPr lang="fr-MC" dirty="0"/>
              <a:t>d : profondeur</a:t>
            </a:r>
          </a:p>
        </p:txBody>
      </p:sp>
      <p:sp>
        <p:nvSpPr>
          <p:cNvPr id="7" name="ZoneTexte 6">
            <a:extLst>
              <a:ext uri="{FF2B5EF4-FFF2-40B4-BE49-F238E27FC236}">
                <a16:creationId xmlns:a16="http://schemas.microsoft.com/office/drawing/2014/main" id="{042B8947-9799-44F9-8747-968AE689760D}"/>
              </a:ext>
            </a:extLst>
          </p:cNvPr>
          <p:cNvSpPr txBox="1"/>
          <p:nvPr/>
        </p:nvSpPr>
        <p:spPr>
          <a:xfrm>
            <a:off x="1139808" y="2225223"/>
            <a:ext cx="4893365" cy="2862322"/>
          </a:xfrm>
          <a:prstGeom prst="rect">
            <a:avLst/>
          </a:prstGeom>
          <a:noFill/>
        </p:spPr>
        <p:txBody>
          <a:bodyPr wrap="square" rtlCol="0">
            <a:spAutoFit/>
          </a:bodyPr>
          <a:lstStyle/>
          <a:p>
            <a:pPr marL="285750" indent="-285750">
              <a:buFont typeface="Wingdings" panose="05000000000000000000" pitchFamily="2" charset="2"/>
              <a:buChar char="q"/>
            </a:pPr>
            <a:r>
              <a:rPr lang="fr-MC" b="1" dirty="0"/>
              <a:t> Comparaison des coûts en temps et en mémoire des algorithmes de routage.</a:t>
            </a:r>
          </a:p>
          <a:p>
            <a:pPr marL="285750" indent="-285750">
              <a:buFont typeface="Wingdings" panose="05000000000000000000" pitchFamily="2" charset="2"/>
              <a:buChar char="q"/>
            </a:pPr>
            <a:endParaRPr lang="fr-MC" b="1" dirty="0"/>
          </a:p>
          <a:p>
            <a:pPr marL="285750" indent="-285750">
              <a:buFont typeface="Wingdings" panose="05000000000000000000" pitchFamily="2" charset="2"/>
              <a:buChar char="q"/>
            </a:pPr>
            <a:r>
              <a:rPr lang="fr-MC" b="1" dirty="0"/>
              <a:t> Les méthodes classiques sont efficaces et scalables.</a:t>
            </a:r>
          </a:p>
          <a:p>
            <a:pPr marL="285750" indent="-285750">
              <a:buFont typeface="Wingdings" panose="05000000000000000000" pitchFamily="2" charset="2"/>
              <a:buChar char="q"/>
            </a:pPr>
            <a:endParaRPr lang="fr-MC" b="1" dirty="0"/>
          </a:p>
          <a:p>
            <a:pPr marL="285750" indent="-285750">
              <a:buFont typeface="Wingdings" panose="05000000000000000000" pitchFamily="2" charset="2"/>
              <a:buChar char="q"/>
            </a:pPr>
            <a:r>
              <a:rPr lang="fr-MC" b="1" dirty="0"/>
              <a:t> Le backtracking est plus coûteux en temps mais indispensable pour gérer des contraintes complexes.</a:t>
            </a:r>
          </a:p>
          <a:p>
            <a:pPr marL="285750" indent="-285750">
              <a:buFont typeface="Wingdings" panose="05000000000000000000" pitchFamily="2" charset="2"/>
              <a:buChar char="q"/>
            </a:pPr>
            <a:endParaRPr lang="fr-MC" b="1" dirty="0"/>
          </a:p>
        </p:txBody>
      </p:sp>
    </p:spTree>
    <p:extLst>
      <p:ext uri="{BB962C8B-B14F-4D97-AF65-F5344CB8AC3E}">
        <p14:creationId xmlns:p14="http://schemas.microsoft.com/office/powerpoint/2010/main" val="4281278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25344" y="0"/>
            <a:ext cx="12236982" cy="6858000"/>
          </a:xfrm>
          <a:prstGeom prst="rect">
            <a:avLst/>
          </a:prstGeom>
          <a:solidFill>
            <a:schemeClr val="bg1">
              <a:alpha val="9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 name="Rectangle 4">
            <a:extLst>
              <a:ext uri="{FF2B5EF4-FFF2-40B4-BE49-F238E27FC236}">
                <a16:creationId xmlns:a16="http://schemas.microsoft.com/office/drawing/2014/main" id="{EF812253-FC90-442C-8C81-78697A55072F}"/>
              </a:ext>
            </a:extLst>
          </p:cNvPr>
          <p:cNvSpPr/>
          <p:nvPr/>
        </p:nvSpPr>
        <p:spPr>
          <a:xfrm>
            <a:off x="536029" y="2122075"/>
            <a:ext cx="7156174" cy="3317625"/>
          </a:xfrm>
          <a:prstGeom prst="rect">
            <a:avLst/>
          </a:prstGeom>
          <a:solidFill>
            <a:srgbClr val="92288D"/>
          </a:solid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818479" y="123878"/>
            <a:ext cx="6555041" cy="724987"/>
          </a:xfrm>
        </p:spPr>
        <p:txBody>
          <a:bodyPr>
            <a:normAutofit/>
          </a:bodyPr>
          <a:lstStyle/>
          <a:p>
            <a:r>
              <a:rPr lang="fr-FR" sz="4000" dirty="0">
                <a:solidFill>
                  <a:srgbClr val="7030A0"/>
                </a:solidFill>
                <a:latin typeface="Poppins SemiBold" panose="00000700000000000000" pitchFamily="50" charset="0"/>
                <a:cs typeface="Poppins SemiBold" panose="00000700000000000000" pitchFamily="50" charset="0"/>
              </a:rPr>
              <a:t>Preuves</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1267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1267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4053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4097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622028" y="63503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622028"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900699" y="66181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905054" y="63503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126728" y="58147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126728"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405399" y="60825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409754" y="58147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graphicFrame>
        <p:nvGraphicFramePr>
          <p:cNvPr id="3" name="Tableau 3">
            <a:extLst>
              <a:ext uri="{FF2B5EF4-FFF2-40B4-BE49-F238E27FC236}">
                <a16:creationId xmlns:a16="http://schemas.microsoft.com/office/drawing/2014/main" id="{56435185-040B-46B4-A524-FAC3D1FD9360}"/>
              </a:ext>
            </a:extLst>
          </p:cNvPr>
          <p:cNvGraphicFramePr>
            <a:graphicFrameLocks noGrp="1"/>
          </p:cNvGraphicFramePr>
          <p:nvPr>
            <p:extLst>
              <p:ext uri="{D42A27DB-BD31-4B8C-83A1-F6EECF244321}">
                <p14:modId xmlns:p14="http://schemas.microsoft.com/office/powerpoint/2010/main" val="4131207162"/>
              </p:ext>
            </p:extLst>
          </p:nvPr>
        </p:nvGraphicFramePr>
        <p:xfrm>
          <a:off x="3220279" y="1651015"/>
          <a:ext cx="5946975" cy="4163774"/>
        </p:xfrm>
        <a:graphic>
          <a:graphicData uri="http://schemas.openxmlformats.org/drawingml/2006/table">
            <a:tbl>
              <a:tblPr firstRow="1" bandRow="1">
                <a:tableStyleId>{5C22544A-7EE6-4342-B048-85BDC9FD1C3A}</a:tableStyleId>
              </a:tblPr>
              <a:tblGrid>
                <a:gridCol w="2114619">
                  <a:extLst>
                    <a:ext uri="{9D8B030D-6E8A-4147-A177-3AD203B41FA5}">
                      <a16:colId xmlns:a16="http://schemas.microsoft.com/office/drawing/2014/main" val="1859324661"/>
                    </a:ext>
                  </a:extLst>
                </a:gridCol>
                <a:gridCol w="1850031">
                  <a:extLst>
                    <a:ext uri="{9D8B030D-6E8A-4147-A177-3AD203B41FA5}">
                      <a16:colId xmlns:a16="http://schemas.microsoft.com/office/drawing/2014/main" val="1402074523"/>
                    </a:ext>
                  </a:extLst>
                </a:gridCol>
                <a:gridCol w="1982325">
                  <a:extLst>
                    <a:ext uri="{9D8B030D-6E8A-4147-A177-3AD203B41FA5}">
                      <a16:colId xmlns:a16="http://schemas.microsoft.com/office/drawing/2014/main" val="1654963726"/>
                    </a:ext>
                  </a:extLst>
                </a:gridCol>
              </a:tblGrid>
              <a:tr h="543099">
                <a:tc>
                  <a:txBody>
                    <a:bodyPr/>
                    <a:lstStyle/>
                    <a:p>
                      <a:pPr algn="l"/>
                      <a:r>
                        <a:rPr lang="fr-FR" u="sng" dirty="0">
                          <a:solidFill>
                            <a:schemeClr val="bg1"/>
                          </a:solidFill>
                        </a:rPr>
                        <a:t>Algorithme</a:t>
                      </a:r>
                      <a:endParaRPr lang="fr-MC" u="sng" dirty="0">
                        <a:solidFill>
                          <a:schemeClr val="bg1"/>
                        </a:solidFill>
                      </a:endParaRPr>
                    </a:p>
                  </a:txBody>
                  <a:tcPr>
                    <a:solidFill>
                      <a:srgbClr val="92288D"/>
                    </a:solidFill>
                  </a:tcPr>
                </a:tc>
                <a:tc>
                  <a:txBody>
                    <a:bodyPr/>
                    <a:lstStyle/>
                    <a:p>
                      <a:r>
                        <a:rPr lang="fr-FR" u="sng" dirty="0"/>
                        <a:t>Garantie</a:t>
                      </a:r>
                      <a:endParaRPr lang="fr-MC" u="sng" dirty="0"/>
                    </a:p>
                  </a:txBody>
                  <a:tcPr>
                    <a:solidFill>
                      <a:srgbClr val="92288D"/>
                    </a:solidFill>
                  </a:tcPr>
                </a:tc>
                <a:tc>
                  <a:txBody>
                    <a:bodyPr/>
                    <a:lstStyle/>
                    <a:p>
                      <a:r>
                        <a:rPr lang="fr-FR" u="sng" dirty="0"/>
                        <a:t>Preuve clé</a:t>
                      </a:r>
                      <a:endParaRPr lang="fr-MC" u="sng" dirty="0"/>
                    </a:p>
                  </a:txBody>
                  <a:tcPr>
                    <a:solidFill>
                      <a:srgbClr val="92288D"/>
                    </a:solidFill>
                  </a:tcPr>
                </a:tc>
                <a:extLst>
                  <a:ext uri="{0D108BD9-81ED-4DB2-BD59-A6C34878D82A}">
                    <a16:rowId xmlns:a16="http://schemas.microsoft.com/office/drawing/2014/main" val="3751597276"/>
                  </a:ext>
                </a:extLst>
              </a:tr>
              <a:tr h="937904">
                <a:tc>
                  <a:txBody>
                    <a:bodyPr/>
                    <a:lstStyle/>
                    <a:p>
                      <a:pPr algn="l"/>
                      <a:r>
                        <a:rPr lang="fr-MC" dirty="0">
                          <a:solidFill>
                            <a:schemeClr val="bg1"/>
                          </a:solidFill>
                        </a:rPr>
                        <a:t>Dijkstra</a:t>
                      </a:r>
                    </a:p>
                  </a:txBody>
                  <a:tcPr>
                    <a:solidFill>
                      <a:srgbClr val="12A552"/>
                    </a:solidFill>
                  </a:tcPr>
                </a:tc>
                <a:tc>
                  <a:txBody>
                    <a:bodyPr/>
                    <a:lstStyle/>
                    <a:p>
                      <a:r>
                        <a:rPr lang="fr-MC" sz="1600" dirty="0">
                          <a:solidFill>
                            <a:schemeClr val="bg1"/>
                          </a:solidFill>
                        </a:rPr>
                        <a:t>Plus court chemin (poids ≥0)</a:t>
                      </a:r>
                    </a:p>
                  </a:txBody>
                  <a:tcPr>
                    <a:solidFill>
                      <a:srgbClr val="12A552"/>
                    </a:solidFill>
                  </a:tcPr>
                </a:tc>
                <a:tc>
                  <a:txBody>
                    <a:bodyPr/>
                    <a:lstStyle/>
                    <a:p>
                      <a:r>
                        <a:rPr lang="fr-MC" dirty="0">
                          <a:solidFill>
                            <a:schemeClr val="bg1"/>
                          </a:solidFill>
                        </a:rPr>
                        <a:t>Induction sur sommets fixés</a:t>
                      </a:r>
                    </a:p>
                  </a:txBody>
                  <a:tcPr>
                    <a:solidFill>
                      <a:srgbClr val="12A552"/>
                    </a:solidFill>
                  </a:tcPr>
                </a:tc>
                <a:extLst>
                  <a:ext uri="{0D108BD9-81ED-4DB2-BD59-A6C34878D82A}">
                    <a16:rowId xmlns:a16="http://schemas.microsoft.com/office/drawing/2014/main" val="4279320610"/>
                  </a:ext>
                </a:extLst>
              </a:tr>
              <a:tr h="993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Bellman-Ford</a:t>
                      </a:r>
                    </a:p>
                  </a:txBody>
                  <a:tcPr>
                    <a:solidFill>
                      <a:srgbClr val="12A552"/>
                    </a:solidFill>
                  </a:tcPr>
                </a:tc>
                <a:tc>
                  <a:txBody>
                    <a:bodyPr/>
                    <a:lstStyle/>
                    <a:p>
                      <a:r>
                        <a:rPr lang="fr-MC" dirty="0">
                          <a:solidFill>
                            <a:schemeClr val="bg1"/>
                          </a:solidFill>
                        </a:rPr>
                        <a:t>Plus court chemin (cycles négatifs ?)</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Relaxation V-1 fois</a:t>
                      </a:r>
                    </a:p>
                  </a:txBody>
                  <a:tcPr>
                    <a:solidFill>
                      <a:srgbClr val="12A552"/>
                    </a:solidFill>
                  </a:tcPr>
                </a:tc>
                <a:extLst>
                  <a:ext uri="{0D108BD9-81ED-4DB2-BD59-A6C34878D82A}">
                    <a16:rowId xmlns:a16="http://schemas.microsoft.com/office/drawing/2014/main" val="216051301"/>
                  </a:ext>
                </a:extLst>
              </a:tr>
              <a:tr h="993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BFS / DFS</a:t>
                      </a:r>
                    </a:p>
                  </a:txBody>
                  <a:tcPr>
                    <a:solidFill>
                      <a:srgbClr val="12A552"/>
                    </a:solidFill>
                  </a:tcPr>
                </a:tc>
                <a:tc>
                  <a:txBody>
                    <a:bodyPr/>
                    <a:lstStyle/>
                    <a:p>
                      <a:r>
                        <a:rPr lang="fr-MC" dirty="0">
                          <a:solidFill>
                            <a:schemeClr val="bg1"/>
                          </a:solidFill>
                        </a:rPr>
                        <a:t>Plus court chemin (non pondéré)</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Exploration niveau par niveau</a:t>
                      </a:r>
                    </a:p>
                  </a:txBody>
                  <a:tcPr>
                    <a:solidFill>
                      <a:srgbClr val="12A552"/>
                    </a:solidFill>
                  </a:tcPr>
                </a:tc>
                <a:extLst>
                  <a:ext uri="{0D108BD9-81ED-4DB2-BD59-A6C34878D82A}">
                    <a16:rowId xmlns:a16="http://schemas.microsoft.com/office/drawing/2014/main" val="4070337059"/>
                  </a:ext>
                </a:extLst>
              </a:tr>
              <a:tr h="6955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Backtracking</a:t>
                      </a:r>
                    </a:p>
                  </a:txBody>
                  <a:tcPr>
                    <a:solidFill>
                      <a:srgbClr val="12A552"/>
                    </a:solidFill>
                  </a:tcPr>
                </a:tc>
                <a:tc>
                  <a:txBody>
                    <a:bodyPr/>
                    <a:lstStyle/>
                    <a:p>
                      <a:r>
                        <a:rPr lang="fr-MC" dirty="0">
                          <a:solidFill>
                            <a:schemeClr val="bg1"/>
                          </a:solidFill>
                        </a:rPr>
                        <a:t>Solution optimale</a:t>
                      </a:r>
                    </a:p>
                  </a:txBody>
                  <a:tcPr>
                    <a:solidFill>
                      <a:srgbClr val="12A55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C" dirty="0">
                          <a:solidFill>
                            <a:schemeClr val="bg1"/>
                          </a:solidFill>
                        </a:rPr>
                        <a:t>Tous les chemins explorés</a:t>
                      </a:r>
                    </a:p>
                  </a:txBody>
                  <a:tcPr>
                    <a:solidFill>
                      <a:srgbClr val="12A552"/>
                    </a:solidFill>
                  </a:tcPr>
                </a:tc>
                <a:extLst>
                  <a:ext uri="{0D108BD9-81ED-4DB2-BD59-A6C34878D82A}">
                    <a16:rowId xmlns:a16="http://schemas.microsoft.com/office/drawing/2014/main" val="3084412350"/>
                  </a:ext>
                </a:extLst>
              </a:tr>
            </a:tbl>
          </a:graphicData>
        </a:graphic>
      </p:graphicFrame>
    </p:spTree>
    <p:extLst>
      <p:ext uri="{BB962C8B-B14F-4D97-AF65-F5344CB8AC3E}">
        <p14:creationId xmlns:p14="http://schemas.microsoft.com/office/powerpoint/2010/main" val="4177542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236982" cy="6858000"/>
          </a:xfrm>
          <a:prstGeom prst="rect">
            <a:avLst/>
          </a:prstGeom>
          <a:solidFill>
            <a:schemeClr val="bg1">
              <a:alpha val="9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826883" y="140321"/>
            <a:ext cx="6555041" cy="724987"/>
          </a:xfrm>
        </p:spPr>
        <p:txBody>
          <a:bodyPr>
            <a:normAutofit fontScale="90000"/>
          </a:bodyPr>
          <a:lstStyle/>
          <a:p>
            <a:r>
              <a:rPr lang="fr-FR" sz="4000" dirty="0" err="1">
                <a:solidFill>
                  <a:srgbClr val="7030A0"/>
                </a:solidFill>
                <a:latin typeface="Poppins SemiBold" panose="00000700000000000000" pitchFamily="50" charset="0"/>
                <a:cs typeface="Poppins SemiBold" panose="00000700000000000000" pitchFamily="50" charset="0"/>
              </a:rPr>
              <a:t>Resultats</a:t>
            </a:r>
            <a:r>
              <a:rPr lang="fr-FR" sz="4000" dirty="0">
                <a:solidFill>
                  <a:srgbClr val="7030A0"/>
                </a:solidFill>
                <a:latin typeface="Poppins SemiBold" panose="00000700000000000000" pitchFamily="50" charset="0"/>
                <a:cs typeface="Poppins SemiBold" panose="00000700000000000000" pitchFamily="50" charset="0"/>
              </a:rPr>
              <a:t> expérimentaux</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8" name="Image 7">
            <a:extLst>
              <a:ext uri="{FF2B5EF4-FFF2-40B4-BE49-F238E27FC236}">
                <a16:creationId xmlns:a16="http://schemas.microsoft.com/office/drawing/2014/main" id="{C889C363-0570-4AF3-A8AD-94DB2F2399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329" y="1727979"/>
            <a:ext cx="5362575" cy="4333875"/>
          </a:xfrm>
          <a:prstGeom prst="rect">
            <a:avLst/>
          </a:prstGeom>
        </p:spPr>
      </p:pic>
      <p:sp>
        <p:nvSpPr>
          <p:cNvPr id="47" name="Titre 1">
            <a:extLst>
              <a:ext uri="{FF2B5EF4-FFF2-40B4-BE49-F238E27FC236}">
                <a16:creationId xmlns:a16="http://schemas.microsoft.com/office/drawing/2014/main" id="{64738C60-F848-4155-A869-BF483A2A427A}"/>
              </a:ext>
            </a:extLst>
          </p:cNvPr>
          <p:cNvSpPr txBox="1">
            <a:spLocks/>
          </p:cNvSpPr>
          <p:nvPr/>
        </p:nvSpPr>
        <p:spPr>
          <a:xfrm>
            <a:off x="2493737" y="919583"/>
            <a:ext cx="2725502" cy="724987"/>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800" dirty="0">
                <a:solidFill>
                  <a:srgbClr val="12A552"/>
                </a:solidFill>
                <a:latin typeface="Poppins SemiBold" panose="00000700000000000000" pitchFamily="50" charset="0"/>
                <a:cs typeface="Poppins SemiBold" panose="00000700000000000000" pitchFamily="50" charset="0"/>
              </a:rPr>
              <a:t>Dijkstra</a:t>
            </a:r>
            <a:endParaRPr lang="fr-MC" sz="2800" dirty="0">
              <a:solidFill>
                <a:srgbClr val="12A552"/>
              </a:solidFill>
              <a:latin typeface="Poppins SemiBold" panose="00000700000000000000" pitchFamily="50" charset="0"/>
              <a:cs typeface="Poppins SemiBold" panose="00000700000000000000" pitchFamily="50" charset="0"/>
            </a:endParaRPr>
          </a:p>
        </p:txBody>
      </p:sp>
      <p:sp>
        <p:nvSpPr>
          <p:cNvPr id="30" name="ZoneTexte 29">
            <a:extLst>
              <a:ext uri="{FF2B5EF4-FFF2-40B4-BE49-F238E27FC236}">
                <a16:creationId xmlns:a16="http://schemas.microsoft.com/office/drawing/2014/main" id="{BD8FA375-F7E8-45B3-8C3B-07F3555891FC}"/>
              </a:ext>
            </a:extLst>
          </p:cNvPr>
          <p:cNvSpPr txBox="1"/>
          <p:nvPr/>
        </p:nvSpPr>
        <p:spPr>
          <a:xfrm>
            <a:off x="7000240" y="2225040"/>
            <a:ext cx="3698240" cy="923330"/>
          </a:xfrm>
          <a:prstGeom prst="rect">
            <a:avLst/>
          </a:prstGeom>
          <a:noFill/>
        </p:spPr>
        <p:txBody>
          <a:bodyPr wrap="square" rtlCol="0">
            <a:spAutoFit/>
          </a:bodyPr>
          <a:lstStyle/>
          <a:p>
            <a:pPr marL="285750" indent="-285750">
              <a:buFont typeface="Wingdings" panose="05000000000000000000" pitchFamily="2" charset="2"/>
              <a:buChar char="q"/>
            </a:pPr>
            <a:r>
              <a:rPr lang="fr-MC" b="1" dirty="0"/>
              <a:t>Le temps d’exécution augmente progressivement avec la taille du graphe</a:t>
            </a:r>
          </a:p>
        </p:txBody>
      </p:sp>
      <p:sp>
        <p:nvSpPr>
          <p:cNvPr id="48" name="ZoneTexte 47">
            <a:extLst>
              <a:ext uri="{FF2B5EF4-FFF2-40B4-BE49-F238E27FC236}">
                <a16:creationId xmlns:a16="http://schemas.microsoft.com/office/drawing/2014/main" id="{86F18CE8-0F65-4685-9679-81DA5C54F8C0}"/>
              </a:ext>
            </a:extLst>
          </p:cNvPr>
          <p:cNvSpPr txBox="1"/>
          <p:nvPr/>
        </p:nvSpPr>
        <p:spPr>
          <a:xfrm>
            <a:off x="7018302" y="3241518"/>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La croissance reste modérée même pour de grands graphes</a:t>
            </a:r>
          </a:p>
        </p:txBody>
      </p:sp>
      <p:sp>
        <p:nvSpPr>
          <p:cNvPr id="49" name="ZoneTexte 48">
            <a:extLst>
              <a:ext uri="{FF2B5EF4-FFF2-40B4-BE49-F238E27FC236}">
                <a16:creationId xmlns:a16="http://schemas.microsoft.com/office/drawing/2014/main" id="{0712BBB7-8F9A-4DCE-B408-46B8927EE309}"/>
              </a:ext>
            </a:extLst>
          </p:cNvPr>
          <p:cNvSpPr txBox="1"/>
          <p:nvPr/>
        </p:nvSpPr>
        <p:spPr>
          <a:xfrm>
            <a:off x="7055942" y="4781986"/>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Convient parfaitement aux graphes pondérés à poids positifs</a:t>
            </a:r>
          </a:p>
        </p:txBody>
      </p:sp>
      <p:sp>
        <p:nvSpPr>
          <p:cNvPr id="50" name="ZoneTexte 49">
            <a:extLst>
              <a:ext uri="{FF2B5EF4-FFF2-40B4-BE49-F238E27FC236}">
                <a16:creationId xmlns:a16="http://schemas.microsoft.com/office/drawing/2014/main" id="{858A0B01-D932-403B-A9D3-C770BCA4A7F9}"/>
              </a:ext>
            </a:extLst>
          </p:cNvPr>
          <p:cNvSpPr txBox="1"/>
          <p:nvPr/>
        </p:nvSpPr>
        <p:spPr>
          <a:xfrm>
            <a:off x="7055942" y="3968174"/>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L’algorithme est efficace grâce à l’utilisation d’une file de priorité</a:t>
            </a:r>
          </a:p>
        </p:txBody>
      </p:sp>
      <p:sp>
        <p:nvSpPr>
          <p:cNvPr id="31" name="Rectangle 30">
            <a:extLst>
              <a:ext uri="{FF2B5EF4-FFF2-40B4-BE49-F238E27FC236}">
                <a16:creationId xmlns:a16="http://schemas.microsoft.com/office/drawing/2014/main" id="{46B7B8EB-2EB4-40CE-8F2A-E1D550915334}"/>
              </a:ext>
            </a:extLst>
          </p:cNvPr>
          <p:cNvSpPr/>
          <p:nvPr/>
        </p:nvSpPr>
        <p:spPr>
          <a:xfrm>
            <a:off x="7018302" y="4135655"/>
            <a:ext cx="2895600" cy="2620902"/>
          </a:xfrm>
          <a:prstGeom prst="rect">
            <a:avLst/>
          </a:prstGeom>
          <a:solidFill>
            <a:schemeClr val="bg1"/>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Tree>
    <p:extLst>
      <p:ext uri="{BB962C8B-B14F-4D97-AF65-F5344CB8AC3E}">
        <p14:creationId xmlns:p14="http://schemas.microsoft.com/office/powerpoint/2010/main" val="151019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236982" cy="6858000"/>
          </a:xfrm>
          <a:prstGeom prst="rect">
            <a:avLst/>
          </a:prstGeom>
          <a:solidFill>
            <a:schemeClr val="bg1">
              <a:alpha val="9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826883" y="140321"/>
            <a:ext cx="6555041" cy="724987"/>
          </a:xfrm>
        </p:spPr>
        <p:txBody>
          <a:bodyPr>
            <a:normAutofit fontScale="90000"/>
          </a:bodyPr>
          <a:lstStyle/>
          <a:p>
            <a:r>
              <a:rPr lang="fr-FR" sz="4000" dirty="0" err="1">
                <a:solidFill>
                  <a:srgbClr val="7030A0"/>
                </a:solidFill>
                <a:latin typeface="Poppins SemiBold" panose="00000700000000000000" pitchFamily="50" charset="0"/>
                <a:cs typeface="Poppins SemiBold" panose="00000700000000000000" pitchFamily="50" charset="0"/>
              </a:rPr>
              <a:t>Resultats</a:t>
            </a:r>
            <a:r>
              <a:rPr lang="fr-FR" sz="4000" dirty="0">
                <a:solidFill>
                  <a:srgbClr val="7030A0"/>
                </a:solidFill>
                <a:latin typeface="Poppins SemiBold" panose="00000700000000000000" pitchFamily="50" charset="0"/>
                <a:cs typeface="Poppins SemiBold" panose="00000700000000000000" pitchFamily="50" charset="0"/>
              </a:rPr>
              <a:t> expérimentaux</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7" name="Titre 1">
            <a:extLst>
              <a:ext uri="{FF2B5EF4-FFF2-40B4-BE49-F238E27FC236}">
                <a16:creationId xmlns:a16="http://schemas.microsoft.com/office/drawing/2014/main" id="{64738C60-F848-4155-A869-BF483A2A427A}"/>
              </a:ext>
            </a:extLst>
          </p:cNvPr>
          <p:cNvSpPr txBox="1">
            <a:spLocks/>
          </p:cNvSpPr>
          <p:nvPr/>
        </p:nvSpPr>
        <p:spPr>
          <a:xfrm>
            <a:off x="1735148" y="888184"/>
            <a:ext cx="2725502" cy="724987"/>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800" dirty="0">
                <a:solidFill>
                  <a:srgbClr val="12A552"/>
                </a:solidFill>
                <a:latin typeface="Poppins SemiBold" panose="00000700000000000000" pitchFamily="50" charset="0"/>
                <a:cs typeface="Poppins SemiBold" panose="00000700000000000000" pitchFamily="50" charset="0"/>
              </a:rPr>
              <a:t>Bellman-</a:t>
            </a:r>
            <a:r>
              <a:rPr lang="fr-FR" sz="2800" dirty="0" err="1">
                <a:solidFill>
                  <a:srgbClr val="12A552"/>
                </a:solidFill>
                <a:latin typeface="Poppins SemiBold" panose="00000700000000000000" pitchFamily="50" charset="0"/>
                <a:cs typeface="Poppins SemiBold" panose="00000700000000000000" pitchFamily="50" charset="0"/>
              </a:rPr>
              <a:t>ford</a:t>
            </a:r>
            <a:endParaRPr lang="fr-MC" sz="2800" dirty="0">
              <a:solidFill>
                <a:srgbClr val="12A552"/>
              </a:solidFill>
              <a:latin typeface="Poppins SemiBold" panose="00000700000000000000" pitchFamily="50" charset="0"/>
              <a:cs typeface="Poppins SemiBold" panose="00000700000000000000" pitchFamily="50" charset="0"/>
            </a:endParaRPr>
          </a:p>
        </p:txBody>
      </p:sp>
      <p:sp>
        <p:nvSpPr>
          <p:cNvPr id="30" name="ZoneTexte 29">
            <a:extLst>
              <a:ext uri="{FF2B5EF4-FFF2-40B4-BE49-F238E27FC236}">
                <a16:creationId xmlns:a16="http://schemas.microsoft.com/office/drawing/2014/main" id="{BD8FA375-F7E8-45B3-8C3B-07F3555891FC}"/>
              </a:ext>
            </a:extLst>
          </p:cNvPr>
          <p:cNvSpPr txBox="1"/>
          <p:nvPr/>
        </p:nvSpPr>
        <p:spPr>
          <a:xfrm>
            <a:off x="1160618" y="1915195"/>
            <a:ext cx="3698240" cy="923330"/>
          </a:xfrm>
          <a:prstGeom prst="rect">
            <a:avLst/>
          </a:prstGeom>
          <a:noFill/>
        </p:spPr>
        <p:txBody>
          <a:bodyPr wrap="square" rtlCol="0">
            <a:spAutoFit/>
          </a:bodyPr>
          <a:lstStyle/>
          <a:p>
            <a:pPr marL="285750" indent="-285750">
              <a:buFont typeface="Wingdings" panose="05000000000000000000" pitchFamily="2" charset="2"/>
              <a:buChar char="q"/>
            </a:pPr>
            <a:r>
              <a:rPr lang="fr-MC" b="1" dirty="0"/>
              <a:t>Le temps d’exécution augmente rapidement avec le nombre de sommets</a:t>
            </a:r>
          </a:p>
        </p:txBody>
      </p:sp>
      <p:sp>
        <p:nvSpPr>
          <p:cNvPr id="48" name="ZoneTexte 47">
            <a:extLst>
              <a:ext uri="{FF2B5EF4-FFF2-40B4-BE49-F238E27FC236}">
                <a16:creationId xmlns:a16="http://schemas.microsoft.com/office/drawing/2014/main" id="{86F18CE8-0F65-4685-9679-81DA5C54F8C0}"/>
              </a:ext>
            </a:extLst>
          </p:cNvPr>
          <p:cNvSpPr txBox="1"/>
          <p:nvPr/>
        </p:nvSpPr>
        <p:spPr>
          <a:xfrm>
            <a:off x="1160618" y="2920853"/>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La croissance devient significative à partir des graphes moyens</a:t>
            </a:r>
          </a:p>
        </p:txBody>
      </p:sp>
      <p:sp>
        <p:nvSpPr>
          <p:cNvPr id="49" name="ZoneTexte 48">
            <a:extLst>
              <a:ext uri="{FF2B5EF4-FFF2-40B4-BE49-F238E27FC236}">
                <a16:creationId xmlns:a16="http://schemas.microsoft.com/office/drawing/2014/main" id="{0712BBB7-8F9A-4DCE-B408-46B8927EE309}"/>
              </a:ext>
            </a:extLst>
          </p:cNvPr>
          <p:cNvSpPr txBox="1"/>
          <p:nvPr/>
        </p:nvSpPr>
        <p:spPr>
          <a:xfrm>
            <a:off x="1160618" y="4729576"/>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Plus lent que Dijkstra, mais plus général</a:t>
            </a:r>
          </a:p>
        </p:txBody>
      </p:sp>
      <p:sp>
        <p:nvSpPr>
          <p:cNvPr id="50" name="ZoneTexte 49">
            <a:extLst>
              <a:ext uri="{FF2B5EF4-FFF2-40B4-BE49-F238E27FC236}">
                <a16:creationId xmlns:a16="http://schemas.microsoft.com/office/drawing/2014/main" id="{858A0B01-D932-403B-A9D3-C770BCA4A7F9}"/>
              </a:ext>
            </a:extLst>
          </p:cNvPr>
          <p:cNvSpPr txBox="1"/>
          <p:nvPr/>
        </p:nvSpPr>
        <p:spPr>
          <a:xfrm>
            <a:off x="1162996" y="3835439"/>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Ce comportement confirme sa complexité en O(VE)</a:t>
            </a:r>
          </a:p>
        </p:txBody>
      </p:sp>
      <p:sp>
        <p:nvSpPr>
          <p:cNvPr id="31" name="Rectangle 30">
            <a:extLst>
              <a:ext uri="{FF2B5EF4-FFF2-40B4-BE49-F238E27FC236}">
                <a16:creationId xmlns:a16="http://schemas.microsoft.com/office/drawing/2014/main" id="{46B7B8EB-2EB4-40CE-8F2A-E1D550915334}"/>
              </a:ext>
            </a:extLst>
          </p:cNvPr>
          <p:cNvSpPr/>
          <p:nvPr/>
        </p:nvSpPr>
        <p:spPr>
          <a:xfrm>
            <a:off x="9376190" y="1915195"/>
            <a:ext cx="2895600" cy="2620902"/>
          </a:xfrm>
          <a:prstGeom prst="rect">
            <a:avLst/>
          </a:prstGeom>
          <a:solidFill>
            <a:srgbClr val="12A552"/>
          </a:solidFill>
          <a:ln w="34925">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4" name="Image 3">
            <a:extLst>
              <a:ext uri="{FF2B5EF4-FFF2-40B4-BE49-F238E27FC236}">
                <a16:creationId xmlns:a16="http://schemas.microsoft.com/office/drawing/2014/main" id="{B26BF9B4-3EF3-47E7-9E1E-9D11B98F95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0176" y="1125113"/>
            <a:ext cx="5448300" cy="4333875"/>
          </a:xfrm>
          <a:prstGeom prst="rect">
            <a:avLst/>
          </a:prstGeom>
        </p:spPr>
      </p:pic>
    </p:spTree>
    <p:extLst>
      <p:ext uri="{BB962C8B-B14F-4D97-AF65-F5344CB8AC3E}">
        <p14:creationId xmlns:p14="http://schemas.microsoft.com/office/powerpoint/2010/main" val="1559904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236982" cy="6858000"/>
          </a:xfrm>
          <a:prstGeom prst="rect">
            <a:avLst/>
          </a:prstGeom>
          <a:solidFill>
            <a:schemeClr val="bg1">
              <a:alpha val="9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Titre 1">
            <a:extLst>
              <a:ext uri="{FF2B5EF4-FFF2-40B4-BE49-F238E27FC236}">
                <a16:creationId xmlns:a16="http://schemas.microsoft.com/office/drawing/2014/main" id="{10F1547F-A95E-417D-BBA8-DE2D317D9BF1}"/>
              </a:ext>
            </a:extLst>
          </p:cNvPr>
          <p:cNvSpPr>
            <a:spLocks noGrp="1"/>
          </p:cNvSpPr>
          <p:nvPr>
            <p:ph type="ctrTitle"/>
          </p:nvPr>
        </p:nvSpPr>
        <p:spPr>
          <a:xfrm>
            <a:off x="2826883" y="140321"/>
            <a:ext cx="6555041" cy="724987"/>
          </a:xfrm>
        </p:spPr>
        <p:txBody>
          <a:bodyPr>
            <a:normAutofit fontScale="90000"/>
          </a:bodyPr>
          <a:lstStyle/>
          <a:p>
            <a:r>
              <a:rPr lang="fr-FR" sz="4000" dirty="0" err="1">
                <a:solidFill>
                  <a:srgbClr val="7030A0"/>
                </a:solidFill>
                <a:latin typeface="Poppins SemiBold" panose="00000700000000000000" pitchFamily="50" charset="0"/>
                <a:cs typeface="Poppins SemiBold" panose="00000700000000000000" pitchFamily="50" charset="0"/>
              </a:rPr>
              <a:t>Resultats</a:t>
            </a:r>
            <a:r>
              <a:rPr lang="fr-FR" sz="4000" dirty="0">
                <a:solidFill>
                  <a:srgbClr val="7030A0"/>
                </a:solidFill>
                <a:latin typeface="Poppins SemiBold" panose="00000700000000000000" pitchFamily="50" charset="0"/>
                <a:cs typeface="Poppins SemiBold" panose="00000700000000000000" pitchFamily="50" charset="0"/>
              </a:rPr>
              <a:t> expérimentaux</a:t>
            </a:r>
            <a:endParaRPr lang="fr-MC" sz="4000" dirty="0">
              <a:latin typeface="Poppins SemiBold" panose="00000700000000000000" pitchFamily="50" charset="0"/>
              <a:cs typeface="Poppins SemiBold" panose="00000700000000000000" pitchFamily="50" charset="0"/>
            </a:endParaRPr>
          </a:p>
        </p:txBody>
      </p:sp>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7" name="Titre 1">
            <a:extLst>
              <a:ext uri="{FF2B5EF4-FFF2-40B4-BE49-F238E27FC236}">
                <a16:creationId xmlns:a16="http://schemas.microsoft.com/office/drawing/2014/main" id="{64738C60-F848-4155-A869-BF483A2A427A}"/>
              </a:ext>
            </a:extLst>
          </p:cNvPr>
          <p:cNvSpPr txBox="1">
            <a:spLocks/>
          </p:cNvSpPr>
          <p:nvPr/>
        </p:nvSpPr>
        <p:spPr>
          <a:xfrm>
            <a:off x="2493737" y="919583"/>
            <a:ext cx="2725502" cy="724987"/>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800" dirty="0">
                <a:solidFill>
                  <a:srgbClr val="12A552"/>
                </a:solidFill>
                <a:latin typeface="Poppins SemiBold" panose="00000700000000000000" pitchFamily="50" charset="0"/>
                <a:cs typeface="Poppins SemiBold" panose="00000700000000000000" pitchFamily="50" charset="0"/>
              </a:rPr>
              <a:t>Backtracking</a:t>
            </a:r>
            <a:endParaRPr lang="fr-MC" sz="2800" dirty="0">
              <a:solidFill>
                <a:srgbClr val="12A552"/>
              </a:solidFill>
              <a:latin typeface="Poppins SemiBold" panose="00000700000000000000" pitchFamily="50" charset="0"/>
              <a:cs typeface="Poppins SemiBold" panose="00000700000000000000" pitchFamily="50" charset="0"/>
            </a:endParaRPr>
          </a:p>
        </p:txBody>
      </p:sp>
      <p:sp>
        <p:nvSpPr>
          <p:cNvPr id="30" name="ZoneTexte 29">
            <a:extLst>
              <a:ext uri="{FF2B5EF4-FFF2-40B4-BE49-F238E27FC236}">
                <a16:creationId xmlns:a16="http://schemas.microsoft.com/office/drawing/2014/main" id="{BD8FA375-F7E8-45B3-8C3B-07F3555891FC}"/>
              </a:ext>
            </a:extLst>
          </p:cNvPr>
          <p:cNvSpPr txBox="1"/>
          <p:nvPr/>
        </p:nvSpPr>
        <p:spPr>
          <a:xfrm>
            <a:off x="7000240" y="2225040"/>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Temps d’exécution élevé même sur de petits graphes</a:t>
            </a:r>
          </a:p>
        </p:txBody>
      </p:sp>
      <p:sp>
        <p:nvSpPr>
          <p:cNvPr id="48" name="ZoneTexte 47">
            <a:extLst>
              <a:ext uri="{FF2B5EF4-FFF2-40B4-BE49-F238E27FC236}">
                <a16:creationId xmlns:a16="http://schemas.microsoft.com/office/drawing/2014/main" id="{86F18CE8-0F65-4685-9679-81DA5C54F8C0}"/>
              </a:ext>
            </a:extLst>
          </p:cNvPr>
          <p:cNvSpPr txBox="1"/>
          <p:nvPr/>
        </p:nvSpPr>
        <p:spPr>
          <a:xfrm>
            <a:off x="7018302" y="3241518"/>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Croissance exponentielle sans optimisation</a:t>
            </a:r>
          </a:p>
        </p:txBody>
      </p:sp>
      <p:sp>
        <p:nvSpPr>
          <p:cNvPr id="31" name="Rectangle 30">
            <a:extLst>
              <a:ext uri="{FF2B5EF4-FFF2-40B4-BE49-F238E27FC236}">
                <a16:creationId xmlns:a16="http://schemas.microsoft.com/office/drawing/2014/main" id="{46B7B8EB-2EB4-40CE-8F2A-E1D550915334}"/>
              </a:ext>
            </a:extLst>
          </p:cNvPr>
          <p:cNvSpPr/>
          <p:nvPr/>
        </p:nvSpPr>
        <p:spPr>
          <a:xfrm>
            <a:off x="45720" y="2399852"/>
            <a:ext cx="2895600" cy="2620902"/>
          </a:xfrm>
          <a:prstGeom prst="rect">
            <a:avLst/>
          </a:prstGeom>
          <a:solidFill>
            <a:srgbClr val="12A552"/>
          </a:solidFill>
          <a:ln w="34925">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50" name="ZoneTexte 49">
            <a:extLst>
              <a:ext uri="{FF2B5EF4-FFF2-40B4-BE49-F238E27FC236}">
                <a16:creationId xmlns:a16="http://schemas.microsoft.com/office/drawing/2014/main" id="{858A0B01-D932-403B-A9D3-C770BCA4A7F9}"/>
              </a:ext>
            </a:extLst>
          </p:cNvPr>
          <p:cNvSpPr txBox="1"/>
          <p:nvPr/>
        </p:nvSpPr>
        <p:spPr>
          <a:xfrm>
            <a:off x="7055942" y="3968174"/>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Très sensible au nombre de sommets et de contraintes</a:t>
            </a:r>
          </a:p>
        </p:txBody>
      </p:sp>
      <p:sp>
        <p:nvSpPr>
          <p:cNvPr id="49" name="ZoneTexte 48">
            <a:extLst>
              <a:ext uri="{FF2B5EF4-FFF2-40B4-BE49-F238E27FC236}">
                <a16:creationId xmlns:a16="http://schemas.microsoft.com/office/drawing/2014/main" id="{0712BBB7-8F9A-4DCE-B408-46B8927EE309}"/>
              </a:ext>
            </a:extLst>
          </p:cNvPr>
          <p:cNvSpPr txBox="1"/>
          <p:nvPr/>
        </p:nvSpPr>
        <p:spPr>
          <a:xfrm>
            <a:off x="7055942" y="4781986"/>
            <a:ext cx="3698240" cy="646331"/>
          </a:xfrm>
          <a:prstGeom prst="rect">
            <a:avLst/>
          </a:prstGeom>
          <a:noFill/>
        </p:spPr>
        <p:txBody>
          <a:bodyPr wrap="square" rtlCol="0">
            <a:spAutoFit/>
          </a:bodyPr>
          <a:lstStyle/>
          <a:p>
            <a:pPr marL="285750" indent="-285750">
              <a:buFont typeface="Wingdings" panose="05000000000000000000" pitchFamily="2" charset="2"/>
              <a:buChar char="q"/>
            </a:pPr>
            <a:r>
              <a:rPr lang="fr-MC" b="1" dirty="0"/>
              <a:t>L’élagage permet une réduction importante du temps</a:t>
            </a:r>
          </a:p>
        </p:txBody>
      </p:sp>
      <p:pic>
        <p:nvPicPr>
          <p:cNvPr id="4" name="Image 3">
            <a:extLst>
              <a:ext uri="{FF2B5EF4-FFF2-40B4-BE49-F238E27FC236}">
                <a16:creationId xmlns:a16="http://schemas.microsoft.com/office/drawing/2014/main" id="{EAF01AE9-0E9B-4177-A7E7-EF4FF30336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701" y="1668342"/>
            <a:ext cx="5553075" cy="4333875"/>
          </a:xfrm>
          <a:prstGeom prst="rect">
            <a:avLst/>
          </a:prstGeom>
        </p:spPr>
      </p:pic>
    </p:spTree>
    <p:extLst>
      <p:ext uri="{BB962C8B-B14F-4D97-AF65-F5344CB8AC3E}">
        <p14:creationId xmlns:p14="http://schemas.microsoft.com/office/powerpoint/2010/main" val="446584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236982" cy="6858000"/>
          </a:xfrm>
          <a:prstGeom prst="rect">
            <a:avLst/>
          </a:prstGeom>
          <a:solidFill>
            <a:srgbClr val="92288D">
              <a:alpha val="8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rgbClr val="922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rgbClr val="12A5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7" name="Titre 1">
            <a:extLst>
              <a:ext uri="{FF2B5EF4-FFF2-40B4-BE49-F238E27FC236}">
                <a16:creationId xmlns:a16="http://schemas.microsoft.com/office/drawing/2014/main" id="{64738C60-F848-4155-A869-BF483A2A427A}"/>
              </a:ext>
            </a:extLst>
          </p:cNvPr>
          <p:cNvSpPr txBox="1">
            <a:spLocks/>
          </p:cNvSpPr>
          <p:nvPr/>
        </p:nvSpPr>
        <p:spPr>
          <a:xfrm>
            <a:off x="1814141" y="2943520"/>
            <a:ext cx="3433453" cy="114673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7200" b="1" dirty="0">
                <a:solidFill>
                  <a:schemeClr val="bg1"/>
                </a:solidFill>
                <a:latin typeface="Poppins Black" panose="00000A00000000000000" pitchFamily="50" charset="0"/>
                <a:cs typeface="Poppins Black" panose="00000A00000000000000" pitchFamily="50" charset="0"/>
              </a:rPr>
              <a:t>DEMO</a:t>
            </a:r>
            <a:endParaRPr lang="fr-MC" sz="7200" b="1" dirty="0">
              <a:solidFill>
                <a:schemeClr val="bg1"/>
              </a:solidFill>
              <a:latin typeface="Poppins Black" panose="00000A00000000000000" pitchFamily="50" charset="0"/>
              <a:cs typeface="Poppins Black" panose="00000A00000000000000" pitchFamily="50" charset="0"/>
            </a:endParaRPr>
          </a:p>
        </p:txBody>
      </p:sp>
      <p:sp>
        <p:nvSpPr>
          <p:cNvPr id="49" name="ZoneTexte 48">
            <a:extLst>
              <a:ext uri="{FF2B5EF4-FFF2-40B4-BE49-F238E27FC236}">
                <a16:creationId xmlns:a16="http://schemas.microsoft.com/office/drawing/2014/main" id="{0712BBB7-8F9A-4DCE-B408-46B8927EE309}"/>
              </a:ext>
            </a:extLst>
          </p:cNvPr>
          <p:cNvSpPr txBox="1"/>
          <p:nvPr/>
        </p:nvSpPr>
        <p:spPr>
          <a:xfrm>
            <a:off x="7055942" y="4781986"/>
            <a:ext cx="3698240" cy="369332"/>
          </a:xfrm>
          <a:prstGeom prst="rect">
            <a:avLst/>
          </a:prstGeom>
          <a:noFill/>
        </p:spPr>
        <p:txBody>
          <a:bodyPr wrap="square" rtlCol="0">
            <a:spAutoFit/>
          </a:bodyPr>
          <a:lstStyle/>
          <a:p>
            <a:endParaRPr lang="fr-MC" b="1" dirty="0"/>
          </a:p>
        </p:txBody>
      </p:sp>
      <p:sp>
        <p:nvSpPr>
          <p:cNvPr id="3" name="Rectangle 2">
            <a:extLst>
              <a:ext uri="{FF2B5EF4-FFF2-40B4-BE49-F238E27FC236}">
                <a16:creationId xmlns:a16="http://schemas.microsoft.com/office/drawing/2014/main" id="{70C151E9-7A68-4B1F-B455-6FED3DF2B9ED}"/>
              </a:ext>
            </a:extLst>
          </p:cNvPr>
          <p:cNvSpPr/>
          <p:nvPr/>
        </p:nvSpPr>
        <p:spPr>
          <a:xfrm>
            <a:off x="6408389" y="2144683"/>
            <a:ext cx="5902960" cy="4376420"/>
          </a:xfrm>
          <a:prstGeom prst="rect">
            <a:avLst/>
          </a:prstGeom>
          <a:solidFill>
            <a:srgbClr val="12A552"/>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7" name="Image 6">
            <a:extLst>
              <a:ext uri="{FF2B5EF4-FFF2-40B4-BE49-F238E27FC236}">
                <a16:creationId xmlns:a16="http://schemas.microsoft.com/office/drawing/2014/main" id="{650A8614-EE4D-44B4-B06C-9E1897A19B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9144" y="400368"/>
            <a:ext cx="5989182" cy="5989182"/>
          </a:xfrm>
          <a:prstGeom prst="rect">
            <a:avLst/>
          </a:prstGeom>
        </p:spPr>
      </p:pic>
      <p:sp>
        <p:nvSpPr>
          <p:cNvPr id="11" name="Titre 10">
            <a:extLst>
              <a:ext uri="{FF2B5EF4-FFF2-40B4-BE49-F238E27FC236}">
                <a16:creationId xmlns:a16="http://schemas.microsoft.com/office/drawing/2014/main" id="{6C7A1D81-97EA-43C1-88DB-A0C8DE028013}"/>
              </a:ext>
            </a:extLst>
          </p:cNvPr>
          <p:cNvSpPr>
            <a:spLocks noGrp="1"/>
          </p:cNvSpPr>
          <p:nvPr>
            <p:ph type="ctrTitle"/>
          </p:nvPr>
        </p:nvSpPr>
        <p:spPr>
          <a:xfrm>
            <a:off x="2637935" y="-2957629"/>
            <a:ext cx="9144000" cy="2387600"/>
          </a:xfrm>
        </p:spPr>
        <p:txBody>
          <a:bodyPr/>
          <a:lstStyle/>
          <a:p>
            <a:r>
              <a:rPr lang="fr-FR" dirty="0"/>
              <a:t> </a:t>
            </a:r>
            <a:endParaRPr lang="fr-MC" dirty="0"/>
          </a:p>
        </p:txBody>
      </p:sp>
    </p:spTree>
    <p:extLst>
      <p:ext uri="{BB962C8B-B14F-4D97-AF65-F5344CB8AC3E}">
        <p14:creationId xmlns:p14="http://schemas.microsoft.com/office/powerpoint/2010/main" val="8558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236982" cy="6858000"/>
          </a:xfrm>
          <a:prstGeom prst="rect">
            <a:avLst/>
          </a:prstGeom>
          <a:solidFill>
            <a:srgbClr val="12A552">
              <a:alpha val="9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9" name="ZoneTexte 48">
            <a:extLst>
              <a:ext uri="{FF2B5EF4-FFF2-40B4-BE49-F238E27FC236}">
                <a16:creationId xmlns:a16="http://schemas.microsoft.com/office/drawing/2014/main" id="{0712BBB7-8F9A-4DCE-B408-46B8927EE309}"/>
              </a:ext>
            </a:extLst>
          </p:cNvPr>
          <p:cNvSpPr txBox="1"/>
          <p:nvPr/>
        </p:nvSpPr>
        <p:spPr>
          <a:xfrm>
            <a:off x="7055942" y="4781986"/>
            <a:ext cx="3698240" cy="369332"/>
          </a:xfrm>
          <a:prstGeom prst="rect">
            <a:avLst/>
          </a:prstGeom>
          <a:noFill/>
        </p:spPr>
        <p:txBody>
          <a:bodyPr wrap="square" rtlCol="0">
            <a:spAutoFit/>
          </a:bodyPr>
          <a:lstStyle/>
          <a:p>
            <a:endParaRPr lang="fr-MC" b="1" dirty="0"/>
          </a:p>
        </p:txBody>
      </p:sp>
      <p:sp>
        <p:nvSpPr>
          <p:cNvPr id="11" name="Titre 10">
            <a:extLst>
              <a:ext uri="{FF2B5EF4-FFF2-40B4-BE49-F238E27FC236}">
                <a16:creationId xmlns:a16="http://schemas.microsoft.com/office/drawing/2014/main" id="{6C7A1D81-97EA-43C1-88DB-A0C8DE028013}"/>
              </a:ext>
            </a:extLst>
          </p:cNvPr>
          <p:cNvSpPr>
            <a:spLocks noGrp="1"/>
          </p:cNvSpPr>
          <p:nvPr>
            <p:ph type="ctrTitle"/>
          </p:nvPr>
        </p:nvSpPr>
        <p:spPr>
          <a:xfrm>
            <a:off x="2637935" y="-2957629"/>
            <a:ext cx="9144000" cy="2387600"/>
          </a:xfrm>
        </p:spPr>
        <p:txBody>
          <a:bodyPr/>
          <a:lstStyle/>
          <a:p>
            <a:r>
              <a:rPr lang="fr-FR" dirty="0"/>
              <a:t> </a:t>
            </a:r>
            <a:endParaRPr lang="fr-MC" dirty="0"/>
          </a:p>
        </p:txBody>
      </p:sp>
      <p:sp>
        <p:nvSpPr>
          <p:cNvPr id="5" name="Rectangle 4">
            <a:extLst>
              <a:ext uri="{FF2B5EF4-FFF2-40B4-BE49-F238E27FC236}">
                <a16:creationId xmlns:a16="http://schemas.microsoft.com/office/drawing/2014/main" id="{683AF38C-9B99-4B7F-8B17-1D81FA768409}"/>
              </a:ext>
            </a:extLst>
          </p:cNvPr>
          <p:cNvSpPr/>
          <p:nvPr/>
        </p:nvSpPr>
        <p:spPr>
          <a:xfrm>
            <a:off x="-3287281" y="1423606"/>
            <a:ext cx="5227320" cy="3507016"/>
          </a:xfrm>
          <a:prstGeom prst="rect">
            <a:avLst/>
          </a:prstGeom>
          <a:solidFill>
            <a:schemeClr val="bg1">
              <a:alpha val="70000"/>
            </a:schemeClr>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 name="ZoneTexte 1">
            <a:extLst>
              <a:ext uri="{FF2B5EF4-FFF2-40B4-BE49-F238E27FC236}">
                <a16:creationId xmlns:a16="http://schemas.microsoft.com/office/drawing/2014/main" id="{8978018F-83B1-46CC-95EE-B76747D90213}"/>
              </a:ext>
            </a:extLst>
          </p:cNvPr>
          <p:cNvSpPr txBox="1"/>
          <p:nvPr/>
        </p:nvSpPr>
        <p:spPr>
          <a:xfrm>
            <a:off x="2440789" y="1555219"/>
            <a:ext cx="8096809" cy="4832092"/>
          </a:xfrm>
          <a:prstGeom prst="rect">
            <a:avLst/>
          </a:prstGeom>
          <a:noFill/>
        </p:spPr>
        <p:txBody>
          <a:bodyPr wrap="square" rtlCol="0">
            <a:spAutoFit/>
          </a:bodyPr>
          <a:lstStyle/>
          <a:p>
            <a:r>
              <a:rPr lang="fr-MC" sz="2800" b="1" dirty="0">
                <a:solidFill>
                  <a:schemeClr val="bg1"/>
                </a:solidFill>
              </a:rPr>
              <a:t>Ce projet a permis de comparer des algorithmes de graphes appliqués aux réseaux et de valider leurs performances. Dijkstra est le plus efficace pour les graphes pondérés à poids positifs, Bellman-Ford reste nécessaire pour les poids négatifs, BFS et DFS sont très rapides pour l’exploration, tandis que le backtracking est limité aux petits graphes.</a:t>
            </a:r>
            <a:br>
              <a:rPr lang="fr-MC" sz="2800" b="1" dirty="0">
                <a:solidFill>
                  <a:schemeClr val="bg1"/>
                </a:solidFill>
              </a:rPr>
            </a:br>
            <a:r>
              <a:rPr lang="fr-MC" sz="2800" b="1" dirty="0">
                <a:solidFill>
                  <a:schemeClr val="bg1"/>
                </a:solidFill>
              </a:rPr>
              <a:t>À l’avenir, ce travail pourra être étendu à des données réelles de trafic réseau, à l’intégration d’algorithmes plus avancés et au développement d’outils de détection et de visualisation des flux.</a:t>
            </a:r>
          </a:p>
        </p:txBody>
      </p:sp>
      <p:sp>
        <p:nvSpPr>
          <p:cNvPr id="48" name="Titre 1">
            <a:extLst>
              <a:ext uri="{FF2B5EF4-FFF2-40B4-BE49-F238E27FC236}">
                <a16:creationId xmlns:a16="http://schemas.microsoft.com/office/drawing/2014/main" id="{1D257DDF-0F91-4158-8E21-F1B09C6A049E}"/>
              </a:ext>
            </a:extLst>
          </p:cNvPr>
          <p:cNvSpPr txBox="1">
            <a:spLocks/>
          </p:cNvSpPr>
          <p:nvPr/>
        </p:nvSpPr>
        <p:spPr>
          <a:xfrm>
            <a:off x="2582419" y="582426"/>
            <a:ext cx="6555041" cy="724987"/>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4000" dirty="0">
                <a:solidFill>
                  <a:schemeClr val="bg1"/>
                </a:solidFill>
                <a:latin typeface="Poppins SemiBold" panose="00000700000000000000" pitchFamily="50" charset="0"/>
                <a:cs typeface="Poppins SemiBold" panose="00000700000000000000" pitchFamily="50" charset="0"/>
              </a:rPr>
              <a:t>Conclusion &amp; perspectives</a:t>
            </a:r>
            <a:endParaRPr lang="fr-MC" sz="4000" dirty="0">
              <a:solidFill>
                <a:schemeClr val="bg1"/>
              </a:solidFill>
              <a:latin typeface="Poppins SemiBold" panose="00000700000000000000" pitchFamily="50" charset="0"/>
              <a:cs typeface="Poppins SemiBold" panose="00000700000000000000" pitchFamily="50" charset="0"/>
            </a:endParaRPr>
          </a:p>
        </p:txBody>
      </p:sp>
      <p:sp>
        <p:nvSpPr>
          <p:cNvPr id="50" name="Rectangle 49">
            <a:extLst>
              <a:ext uri="{FF2B5EF4-FFF2-40B4-BE49-F238E27FC236}">
                <a16:creationId xmlns:a16="http://schemas.microsoft.com/office/drawing/2014/main" id="{6528843A-6427-4D79-8919-83F8AD9B6674}"/>
              </a:ext>
            </a:extLst>
          </p:cNvPr>
          <p:cNvSpPr/>
          <p:nvPr/>
        </p:nvSpPr>
        <p:spPr>
          <a:xfrm>
            <a:off x="10988461" y="4247166"/>
            <a:ext cx="5227320" cy="3507016"/>
          </a:xfrm>
          <a:prstGeom prst="rect">
            <a:avLst/>
          </a:prstGeom>
          <a:solidFill>
            <a:schemeClr val="bg1">
              <a:alpha val="70000"/>
            </a:schemeClr>
          </a:solid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Tree>
    <p:extLst>
      <p:ext uri="{BB962C8B-B14F-4D97-AF65-F5344CB8AC3E}">
        <p14:creationId xmlns:p14="http://schemas.microsoft.com/office/powerpoint/2010/main" val="12078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58350BB-2558-4DCB-B4ED-04F237080C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6294" cy="6858000"/>
          </a:xfrm>
          <a:prstGeom prst="rect">
            <a:avLst/>
          </a:prstGeom>
        </p:spPr>
      </p:pic>
      <p:sp>
        <p:nvSpPr>
          <p:cNvPr id="10" name="Rectangle 9">
            <a:extLst>
              <a:ext uri="{FF2B5EF4-FFF2-40B4-BE49-F238E27FC236}">
                <a16:creationId xmlns:a16="http://schemas.microsoft.com/office/drawing/2014/main" id="{70B24D70-823F-4D7B-A2F7-0CFD1C6C4E6E}"/>
              </a:ext>
            </a:extLst>
          </p:cNvPr>
          <p:cNvSpPr/>
          <p:nvPr/>
        </p:nvSpPr>
        <p:spPr>
          <a:xfrm>
            <a:off x="-14088" y="-9921"/>
            <a:ext cx="12343248" cy="6858000"/>
          </a:xfrm>
          <a:prstGeom prst="rect">
            <a:avLst/>
          </a:prstGeom>
          <a:solidFill>
            <a:schemeClr val="bg1">
              <a:alpha val="9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8" name="Image 7">
            <a:extLst>
              <a:ext uri="{FF2B5EF4-FFF2-40B4-BE49-F238E27FC236}">
                <a16:creationId xmlns:a16="http://schemas.microsoft.com/office/drawing/2014/main" id="{FC6CD3BC-8391-4A8E-814F-117FB0B27F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0618" y="-15239"/>
            <a:ext cx="12179925" cy="7162800"/>
          </a:xfrm>
          <a:prstGeom prst="rect">
            <a:avLst/>
          </a:prstGeom>
        </p:spPr>
      </p:pic>
      <p:sp>
        <p:nvSpPr>
          <p:cNvPr id="16" name="Ellipse 15">
            <a:extLst>
              <a:ext uri="{FF2B5EF4-FFF2-40B4-BE49-F238E27FC236}">
                <a16:creationId xmlns:a16="http://schemas.microsoft.com/office/drawing/2014/main" id="{2775799B-B653-44E6-8383-5E35184DB1A5}"/>
              </a:ext>
            </a:extLst>
          </p:cNvPr>
          <p:cNvSpPr/>
          <p:nvPr/>
        </p:nvSpPr>
        <p:spPr>
          <a:xfrm>
            <a:off x="534688"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7" name="Ellipse 16">
            <a:extLst>
              <a:ext uri="{FF2B5EF4-FFF2-40B4-BE49-F238E27FC236}">
                <a16:creationId xmlns:a16="http://schemas.microsoft.com/office/drawing/2014/main" id="{0A842F0C-9D95-4499-AE66-305BCD39FB49}"/>
              </a:ext>
            </a:extLst>
          </p:cNvPr>
          <p:cNvSpPr/>
          <p:nvPr/>
        </p:nvSpPr>
        <p:spPr>
          <a:xfrm>
            <a:off x="534688"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8" name="Ellipse 17">
            <a:extLst>
              <a:ext uri="{FF2B5EF4-FFF2-40B4-BE49-F238E27FC236}">
                <a16:creationId xmlns:a16="http://schemas.microsoft.com/office/drawing/2014/main" id="{2D01B4F2-C1AE-452C-B7B6-825B5F17816F}"/>
              </a:ext>
            </a:extLst>
          </p:cNvPr>
          <p:cNvSpPr/>
          <p:nvPr/>
        </p:nvSpPr>
        <p:spPr>
          <a:xfrm>
            <a:off x="813359"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9" name="Ellipse 18">
            <a:extLst>
              <a:ext uri="{FF2B5EF4-FFF2-40B4-BE49-F238E27FC236}">
                <a16:creationId xmlns:a16="http://schemas.microsoft.com/office/drawing/2014/main" id="{07DCB8D6-6525-461C-A21A-315C133883BB}"/>
              </a:ext>
            </a:extLst>
          </p:cNvPr>
          <p:cNvSpPr/>
          <p:nvPr/>
        </p:nvSpPr>
        <p:spPr>
          <a:xfrm>
            <a:off x="817714"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0" name="Ellipse 19">
            <a:extLst>
              <a:ext uri="{FF2B5EF4-FFF2-40B4-BE49-F238E27FC236}">
                <a16:creationId xmlns:a16="http://schemas.microsoft.com/office/drawing/2014/main" id="{BC74D223-37F8-4738-B690-7F59ED1C3D0E}"/>
              </a:ext>
            </a:extLst>
          </p:cNvPr>
          <p:cNvSpPr/>
          <p:nvPr/>
        </p:nvSpPr>
        <p:spPr>
          <a:xfrm>
            <a:off x="1029988"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1" name="Ellipse 20">
            <a:extLst>
              <a:ext uri="{FF2B5EF4-FFF2-40B4-BE49-F238E27FC236}">
                <a16:creationId xmlns:a16="http://schemas.microsoft.com/office/drawing/2014/main" id="{D676CE97-E238-4FFF-8861-A8F84A68D893}"/>
              </a:ext>
            </a:extLst>
          </p:cNvPr>
          <p:cNvSpPr/>
          <p:nvPr/>
        </p:nvSpPr>
        <p:spPr>
          <a:xfrm>
            <a:off x="1029988"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2" name="Ellipse 21">
            <a:extLst>
              <a:ext uri="{FF2B5EF4-FFF2-40B4-BE49-F238E27FC236}">
                <a16:creationId xmlns:a16="http://schemas.microsoft.com/office/drawing/2014/main" id="{2D127DC2-045D-4F2C-B079-B45E3FEA12ED}"/>
              </a:ext>
            </a:extLst>
          </p:cNvPr>
          <p:cNvSpPr/>
          <p:nvPr/>
        </p:nvSpPr>
        <p:spPr>
          <a:xfrm>
            <a:off x="1308659" y="6389550"/>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3" name="Ellipse 22">
            <a:extLst>
              <a:ext uri="{FF2B5EF4-FFF2-40B4-BE49-F238E27FC236}">
                <a16:creationId xmlns:a16="http://schemas.microsoft.com/office/drawing/2014/main" id="{226C59F0-F3B7-4563-892F-2E50C07DFF01}"/>
              </a:ext>
            </a:extLst>
          </p:cNvPr>
          <p:cNvSpPr/>
          <p:nvPr/>
        </p:nvSpPr>
        <p:spPr>
          <a:xfrm>
            <a:off x="1313014" y="612176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4" name="Ellipse 23">
            <a:extLst>
              <a:ext uri="{FF2B5EF4-FFF2-40B4-BE49-F238E27FC236}">
                <a16:creationId xmlns:a16="http://schemas.microsoft.com/office/drawing/2014/main" id="{5B46D2DB-BC13-4AF7-8169-259C3B810E22}"/>
              </a:ext>
            </a:extLst>
          </p:cNvPr>
          <p:cNvSpPr/>
          <p:nvPr/>
        </p:nvSpPr>
        <p:spPr>
          <a:xfrm>
            <a:off x="534688" y="5586189"/>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5" name="Ellipse 24">
            <a:extLst>
              <a:ext uri="{FF2B5EF4-FFF2-40B4-BE49-F238E27FC236}">
                <a16:creationId xmlns:a16="http://schemas.microsoft.com/office/drawing/2014/main" id="{DA575CC1-DC7F-4801-8C27-4ED45D4D769E}"/>
              </a:ext>
            </a:extLst>
          </p:cNvPr>
          <p:cNvSpPr/>
          <p:nvPr/>
        </p:nvSpPr>
        <p:spPr>
          <a:xfrm>
            <a:off x="534688" y="585397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6" name="Ellipse 25">
            <a:extLst>
              <a:ext uri="{FF2B5EF4-FFF2-40B4-BE49-F238E27FC236}">
                <a16:creationId xmlns:a16="http://schemas.microsoft.com/office/drawing/2014/main" id="{3ED345A9-E919-4EF3-8D5F-F532456C8C20}"/>
              </a:ext>
            </a:extLst>
          </p:cNvPr>
          <p:cNvSpPr/>
          <p:nvPr/>
        </p:nvSpPr>
        <p:spPr>
          <a:xfrm>
            <a:off x="813359" y="585397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27" name="Ellipse 26">
            <a:extLst>
              <a:ext uri="{FF2B5EF4-FFF2-40B4-BE49-F238E27FC236}">
                <a16:creationId xmlns:a16="http://schemas.microsoft.com/office/drawing/2014/main" id="{093CB281-2194-44D8-A0D5-6A948792EB5F}"/>
              </a:ext>
            </a:extLst>
          </p:cNvPr>
          <p:cNvSpPr/>
          <p:nvPr/>
        </p:nvSpPr>
        <p:spPr>
          <a:xfrm>
            <a:off x="817714" y="5586189"/>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5" name="Ellipse 34">
            <a:extLst>
              <a:ext uri="{FF2B5EF4-FFF2-40B4-BE49-F238E27FC236}">
                <a16:creationId xmlns:a16="http://schemas.microsoft.com/office/drawing/2014/main" id="{42D597B4-2762-4DB1-8396-CB09523E7D45}"/>
              </a:ext>
            </a:extLst>
          </p:cNvPr>
          <p:cNvSpPr/>
          <p:nvPr/>
        </p:nvSpPr>
        <p:spPr>
          <a:xfrm>
            <a:off x="10988461"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6" name="Ellipse 35">
            <a:extLst>
              <a:ext uri="{FF2B5EF4-FFF2-40B4-BE49-F238E27FC236}">
                <a16:creationId xmlns:a16="http://schemas.microsoft.com/office/drawing/2014/main" id="{34010500-AFDB-46A1-9E18-342CE1D0D84E}"/>
              </a:ext>
            </a:extLst>
          </p:cNvPr>
          <p:cNvSpPr/>
          <p:nvPr/>
        </p:nvSpPr>
        <p:spPr>
          <a:xfrm>
            <a:off x="10988461"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7" name="Ellipse 36">
            <a:extLst>
              <a:ext uri="{FF2B5EF4-FFF2-40B4-BE49-F238E27FC236}">
                <a16:creationId xmlns:a16="http://schemas.microsoft.com/office/drawing/2014/main" id="{55AC5506-8C73-4462-9AD8-B1FFBAC6AEE6}"/>
              </a:ext>
            </a:extLst>
          </p:cNvPr>
          <p:cNvSpPr/>
          <p:nvPr/>
        </p:nvSpPr>
        <p:spPr>
          <a:xfrm>
            <a:off x="11267132" y="1125113"/>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8" name="Ellipse 37">
            <a:extLst>
              <a:ext uri="{FF2B5EF4-FFF2-40B4-BE49-F238E27FC236}">
                <a16:creationId xmlns:a16="http://schemas.microsoft.com/office/drawing/2014/main" id="{F61484B3-C980-49A7-9BC0-50B433FD6079}"/>
              </a:ext>
            </a:extLst>
          </p:cNvPr>
          <p:cNvSpPr/>
          <p:nvPr/>
        </p:nvSpPr>
        <p:spPr>
          <a:xfrm>
            <a:off x="11271487" y="857326"/>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39" name="Ellipse 38">
            <a:extLst>
              <a:ext uri="{FF2B5EF4-FFF2-40B4-BE49-F238E27FC236}">
                <a16:creationId xmlns:a16="http://schemas.microsoft.com/office/drawing/2014/main" id="{8EAFF0FD-E06E-45BD-879E-E57A15D2D2E3}"/>
              </a:ext>
            </a:extLst>
          </p:cNvPr>
          <p:cNvSpPr/>
          <p:nvPr/>
        </p:nvSpPr>
        <p:spPr>
          <a:xfrm>
            <a:off x="11503264"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0" name="Ellipse 39">
            <a:extLst>
              <a:ext uri="{FF2B5EF4-FFF2-40B4-BE49-F238E27FC236}">
                <a16:creationId xmlns:a16="http://schemas.microsoft.com/office/drawing/2014/main" id="{CFFE85CA-A7D3-45F2-AC5A-B40032FF2AE8}"/>
              </a:ext>
            </a:extLst>
          </p:cNvPr>
          <p:cNvSpPr/>
          <p:nvPr/>
        </p:nvSpPr>
        <p:spPr>
          <a:xfrm>
            <a:off x="11503264"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1" name="Ellipse 40">
            <a:extLst>
              <a:ext uri="{FF2B5EF4-FFF2-40B4-BE49-F238E27FC236}">
                <a16:creationId xmlns:a16="http://schemas.microsoft.com/office/drawing/2014/main" id="{9F41EF6A-EAE8-447A-99B9-EBF13CDF87C8}"/>
              </a:ext>
            </a:extLst>
          </p:cNvPr>
          <p:cNvSpPr/>
          <p:nvPr/>
        </p:nvSpPr>
        <p:spPr>
          <a:xfrm>
            <a:off x="11781935" y="6594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2" name="Ellipse 41">
            <a:extLst>
              <a:ext uri="{FF2B5EF4-FFF2-40B4-BE49-F238E27FC236}">
                <a16:creationId xmlns:a16="http://schemas.microsoft.com/office/drawing/2014/main" id="{4B441BC7-FAEF-450E-9651-A713D1A62701}"/>
              </a:ext>
            </a:extLst>
          </p:cNvPr>
          <p:cNvSpPr/>
          <p:nvPr/>
        </p:nvSpPr>
        <p:spPr>
          <a:xfrm>
            <a:off x="11786290" y="3916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3" name="Ellipse 42">
            <a:extLst>
              <a:ext uri="{FF2B5EF4-FFF2-40B4-BE49-F238E27FC236}">
                <a16:creationId xmlns:a16="http://schemas.microsoft.com/office/drawing/2014/main" id="{B7C91F7C-C654-4734-B276-3BFEBCE0660A}"/>
              </a:ext>
            </a:extLst>
          </p:cNvPr>
          <p:cNvSpPr/>
          <p:nvPr/>
        </p:nvSpPr>
        <p:spPr>
          <a:xfrm>
            <a:off x="11503264"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4" name="Ellipse 43">
            <a:extLst>
              <a:ext uri="{FF2B5EF4-FFF2-40B4-BE49-F238E27FC236}">
                <a16:creationId xmlns:a16="http://schemas.microsoft.com/office/drawing/2014/main" id="{DC5A6D0F-A02D-4DA6-A286-DC6EC04B00E9}"/>
              </a:ext>
            </a:extLst>
          </p:cNvPr>
          <p:cNvSpPr/>
          <p:nvPr/>
        </p:nvSpPr>
        <p:spPr>
          <a:xfrm>
            <a:off x="11503264"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5" name="Ellipse 44">
            <a:extLst>
              <a:ext uri="{FF2B5EF4-FFF2-40B4-BE49-F238E27FC236}">
                <a16:creationId xmlns:a16="http://schemas.microsoft.com/office/drawing/2014/main" id="{BB16DE63-6992-4F17-9AD2-EE7B98E47B20}"/>
              </a:ext>
            </a:extLst>
          </p:cNvPr>
          <p:cNvSpPr/>
          <p:nvPr/>
        </p:nvSpPr>
        <p:spPr>
          <a:xfrm>
            <a:off x="11781935" y="1116652"/>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6" name="Ellipse 45">
            <a:extLst>
              <a:ext uri="{FF2B5EF4-FFF2-40B4-BE49-F238E27FC236}">
                <a16:creationId xmlns:a16="http://schemas.microsoft.com/office/drawing/2014/main" id="{88868261-5475-4076-8FF9-C10425FDC64E}"/>
              </a:ext>
            </a:extLst>
          </p:cNvPr>
          <p:cNvSpPr/>
          <p:nvPr/>
        </p:nvSpPr>
        <p:spPr>
          <a:xfrm>
            <a:off x="11786290" y="848865"/>
            <a:ext cx="130630" cy="1306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49" name="ZoneTexte 48">
            <a:extLst>
              <a:ext uri="{FF2B5EF4-FFF2-40B4-BE49-F238E27FC236}">
                <a16:creationId xmlns:a16="http://schemas.microsoft.com/office/drawing/2014/main" id="{0712BBB7-8F9A-4DCE-B408-46B8927EE309}"/>
              </a:ext>
            </a:extLst>
          </p:cNvPr>
          <p:cNvSpPr txBox="1"/>
          <p:nvPr/>
        </p:nvSpPr>
        <p:spPr>
          <a:xfrm>
            <a:off x="7055942" y="4781986"/>
            <a:ext cx="3698240" cy="369332"/>
          </a:xfrm>
          <a:prstGeom prst="rect">
            <a:avLst/>
          </a:prstGeom>
          <a:noFill/>
        </p:spPr>
        <p:txBody>
          <a:bodyPr wrap="square" rtlCol="0">
            <a:spAutoFit/>
          </a:bodyPr>
          <a:lstStyle/>
          <a:p>
            <a:endParaRPr lang="fr-MC" b="1" dirty="0"/>
          </a:p>
        </p:txBody>
      </p:sp>
      <p:sp>
        <p:nvSpPr>
          <p:cNvPr id="11" name="Titre 10">
            <a:extLst>
              <a:ext uri="{FF2B5EF4-FFF2-40B4-BE49-F238E27FC236}">
                <a16:creationId xmlns:a16="http://schemas.microsoft.com/office/drawing/2014/main" id="{6C7A1D81-97EA-43C1-88DB-A0C8DE028013}"/>
              </a:ext>
            </a:extLst>
          </p:cNvPr>
          <p:cNvSpPr>
            <a:spLocks noGrp="1"/>
          </p:cNvSpPr>
          <p:nvPr>
            <p:ph type="ctrTitle"/>
          </p:nvPr>
        </p:nvSpPr>
        <p:spPr>
          <a:xfrm>
            <a:off x="2637935" y="-2957629"/>
            <a:ext cx="9144000" cy="2387600"/>
          </a:xfrm>
        </p:spPr>
        <p:txBody>
          <a:bodyPr/>
          <a:lstStyle/>
          <a:p>
            <a:r>
              <a:rPr lang="fr-FR" dirty="0"/>
              <a:t> </a:t>
            </a:r>
            <a:endParaRPr lang="fr-MC" dirty="0"/>
          </a:p>
        </p:txBody>
      </p:sp>
      <p:sp>
        <p:nvSpPr>
          <p:cNvPr id="50" name="Rectangle 49">
            <a:extLst>
              <a:ext uri="{FF2B5EF4-FFF2-40B4-BE49-F238E27FC236}">
                <a16:creationId xmlns:a16="http://schemas.microsoft.com/office/drawing/2014/main" id="{6528843A-6427-4D79-8919-83F8AD9B6674}"/>
              </a:ext>
            </a:extLst>
          </p:cNvPr>
          <p:cNvSpPr/>
          <p:nvPr/>
        </p:nvSpPr>
        <p:spPr>
          <a:xfrm>
            <a:off x="-74085" y="636047"/>
            <a:ext cx="7412845" cy="5401187"/>
          </a:xfrm>
          <a:prstGeom prst="rect">
            <a:avLst/>
          </a:prstGeom>
          <a:solidFill>
            <a:srgbClr val="92288D"/>
          </a:solidFill>
          <a:ln w="34925">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sp>
        <p:nvSpPr>
          <p:cNvPr id="13" name="Ellipse 12">
            <a:extLst>
              <a:ext uri="{FF2B5EF4-FFF2-40B4-BE49-F238E27FC236}">
                <a16:creationId xmlns:a16="http://schemas.microsoft.com/office/drawing/2014/main" id="{FEFD6705-DCEB-4150-BE02-838D00D57AAE}"/>
              </a:ext>
            </a:extLst>
          </p:cNvPr>
          <p:cNvSpPr/>
          <p:nvPr/>
        </p:nvSpPr>
        <p:spPr>
          <a:xfrm>
            <a:off x="-229837" y="-257727"/>
            <a:ext cx="1964985" cy="1964985"/>
          </a:xfrm>
          <a:prstGeom prst="ellipse">
            <a:avLst/>
          </a:prstGeom>
          <a:solidFill>
            <a:schemeClr val="bg1"/>
          </a:solidFill>
          <a:ln w="76200">
            <a:solidFill>
              <a:srgbClr val="12A552"/>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C"/>
          </a:p>
        </p:txBody>
      </p:sp>
      <p:pic>
        <p:nvPicPr>
          <p:cNvPr id="6" name="Image 5">
            <a:extLst>
              <a:ext uri="{FF2B5EF4-FFF2-40B4-BE49-F238E27FC236}">
                <a16:creationId xmlns:a16="http://schemas.microsoft.com/office/drawing/2014/main" id="{DA9214F6-1F3D-437C-BA14-48E618399E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84" y="260238"/>
            <a:ext cx="1500653" cy="1059687"/>
          </a:xfrm>
          <a:prstGeom prst="rect">
            <a:avLst/>
          </a:prstGeom>
        </p:spPr>
      </p:pic>
      <p:sp>
        <p:nvSpPr>
          <p:cNvPr id="12" name="ZoneTexte 11">
            <a:extLst>
              <a:ext uri="{FF2B5EF4-FFF2-40B4-BE49-F238E27FC236}">
                <a16:creationId xmlns:a16="http://schemas.microsoft.com/office/drawing/2014/main" id="{41A42CBD-3CBF-4F4E-948B-009A27EB120E}"/>
              </a:ext>
            </a:extLst>
          </p:cNvPr>
          <p:cNvSpPr txBox="1"/>
          <p:nvPr/>
        </p:nvSpPr>
        <p:spPr>
          <a:xfrm>
            <a:off x="1299241" y="2218750"/>
            <a:ext cx="3658490" cy="1200329"/>
          </a:xfrm>
          <a:prstGeom prst="rect">
            <a:avLst/>
          </a:prstGeom>
          <a:noFill/>
        </p:spPr>
        <p:txBody>
          <a:bodyPr wrap="square" rtlCol="0">
            <a:spAutoFit/>
          </a:bodyPr>
          <a:lstStyle/>
          <a:p>
            <a:r>
              <a:rPr lang="fr-FR" sz="7200" b="1" dirty="0">
                <a:solidFill>
                  <a:schemeClr val="bg1"/>
                </a:solidFill>
                <a:latin typeface="Poppins Black" panose="00000A00000000000000" pitchFamily="50" charset="0"/>
                <a:cs typeface="Poppins Black" panose="00000A00000000000000" pitchFamily="50" charset="0"/>
              </a:rPr>
              <a:t>MERCI</a:t>
            </a:r>
            <a:endParaRPr lang="fr-MC" sz="7200" b="1" dirty="0">
              <a:solidFill>
                <a:schemeClr val="bg1"/>
              </a:solidFill>
              <a:latin typeface="Poppins Black" panose="00000A00000000000000" pitchFamily="50" charset="0"/>
              <a:cs typeface="Poppins Black" panose="00000A00000000000000" pitchFamily="50" charset="0"/>
            </a:endParaRPr>
          </a:p>
        </p:txBody>
      </p:sp>
      <p:sp>
        <p:nvSpPr>
          <p:cNvPr id="14" name="ZoneTexte 13">
            <a:extLst>
              <a:ext uri="{FF2B5EF4-FFF2-40B4-BE49-F238E27FC236}">
                <a16:creationId xmlns:a16="http://schemas.microsoft.com/office/drawing/2014/main" id="{2F88C519-DB0C-4E8A-A484-C9D268BC73ED}"/>
              </a:ext>
            </a:extLst>
          </p:cNvPr>
          <p:cNvSpPr txBox="1"/>
          <p:nvPr/>
        </p:nvSpPr>
        <p:spPr>
          <a:xfrm>
            <a:off x="1082165" y="3136612"/>
            <a:ext cx="3722185" cy="584775"/>
          </a:xfrm>
          <a:prstGeom prst="rect">
            <a:avLst/>
          </a:prstGeom>
          <a:noFill/>
        </p:spPr>
        <p:txBody>
          <a:bodyPr wrap="square" rtlCol="0">
            <a:spAutoFit/>
          </a:bodyPr>
          <a:lstStyle/>
          <a:p>
            <a:r>
              <a:rPr lang="fr-FR" sz="3200" dirty="0">
                <a:solidFill>
                  <a:schemeClr val="bg1"/>
                </a:solidFill>
              </a:rPr>
              <a:t>Pour votre attention</a:t>
            </a:r>
            <a:endParaRPr lang="fr-MC" sz="3200" dirty="0">
              <a:solidFill>
                <a:schemeClr val="bg1"/>
              </a:solidFill>
            </a:endParaRPr>
          </a:p>
        </p:txBody>
      </p:sp>
    </p:spTree>
    <p:extLst>
      <p:ext uri="{BB962C8B-B14F-4D97-AF65-F5344CB8AC3E}">
        <p14:creationId xmlns:p14="http://schemas.microsoft.com/office/powerpoint/2010/main" val="2251184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1700</TotalTime>
  <Words>1096</Words>
  <Application>Microsoft Office PowerPoint</Application>
  <PresentationFormat>Grand écran</PresentationFormat>
  <Paragraphs>177</Paragraphs>
  <Slides>17</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17</vt:i4>
      </vt:variant>
    </vt:vector>
  </HeadingPairs>
  <TitlesOfParts>
    <vt:vector size="24" baseType="lpstr">
      <vt:lpstr>Arial</vt:lpstr>
      <vt:lpstr>Calibri</vt:lpstr>
      <vt:lpstr>Calibri Light</vt:lpstr>
      <vt:lpstr>Poppins Black</vt:lpstr>
      <vt:lpstr>Poppins SemiBold</vt:lpstr>
      <vt:lpstr>Wingdings</vt:lpstr>
      <vt:lpstr>Thème Office</vt:lpstr>
      <vt:lpstr> </vt:lpstr>
      <vt:lpstr>SOMMAIRE </vt:lpstr>
      <vt:lpstr>Introduction</vt:lpstr>
      <vt:lpstr>Contexte</vt:lpstr>
      <vt:lpstr>Architecture du système</vt:lpstr>
      <vt:lpstr>Conception du système</vt:lpstr>
      <vt:lpstr>Algorithmiques clés</vt:lpstr>
      <vt:lpstr>Algorithmiques clés</vt:lpstr>
      <vt:lpstr>Algorithmiques clés</vt:lpstr>
      <vt:lpstr>Analyses de la complexité</vt:lpstr>
      <vt:lpstr>Preuves</vt:lpstr>
      <vt:lpstr>Resultats expérimentaux</vt:lpstr>
      <vt:lpstr>Resultats expérimentaux</vt:lpstr>
      <vt:lpstr>Resultats expérimentaux</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Sindou</dc:creator>
  <cp:lastModifiedBy>haden hassan</cp:lastModifiedBy>
  <cp:revision>58</cp:revision>
  <dcterms:created xsi:type="dcterms:W3CDTF">2026-01-26T13:25:03Z</dcterms:created>
  <dcterms:modified xsi:type="dcterms:W3CDTF">2026-01-27T21:27:58Z</dcterms:modified>
</cp:coreProperties>
</file>